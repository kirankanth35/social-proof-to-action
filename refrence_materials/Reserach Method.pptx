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53"/>
  </p:notesMasterIdLst>
  <p:sldIdLst>
    <p:sldId id="30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1920"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01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610735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323557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2658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44691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17070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70588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9691227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304876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2/2/2026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628620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50427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026608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49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2/2/2026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993930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5D47-C812-78D8-C434-657F2E2228A7}"/>
              </a:ext>
            </a:extLst>
          </p:cNvPr>
          <p:cNvSpPr>
            <a:spLocks noGrp="1"/>
          </p:cNvSpPr>
          <p:nvPr>
            <p:ph type="ctrTitle"/>
          </p:nvPr>
        </p:nvSpPr>
        <p:spPr/>
        <p:txBody>
          <a:bodyPr>
            <a:normAutofit fontScale="90000"/>
          </a:bodyPr>
          <a:lstStyle/>
          <a:p>
            <a:r>
              <a:rPr lang="en-US" dirty="0"/>
              <a:t>BANA 698 :</a:t>
            </a:r>
            <a:br>
              <a:rPr lang="en-US" dirty="0"/>
            </a:br>
            <a:r>
              <a:rPr lang="en-US" dirty="0"/>
              <a:t>Research Method		</a:t>
            </a:r>
          </a:p>
        </p:txBody>
      </p:sp>
      <p:sp>
        <p:nvSpPr>
          <p:cNvPr id="3" name="Subtitle 2">
            <a:extLst>
              <a:ext uri="{FF2B5EF4-FFF2-40B4-BE49-F238E27FC236}">
                <a16:creationId xmlns:a16="http://schemas.microsoft.com/office/drawing/2014/main" id="{601B79E3-E788-4223-6A33-209E7F8353AA}"/>
              </a:ext>
            </a:extLst>
          </p:cNvPr>
          <p:cNvSpPr>
            <a:spLocks noGrp="1"/>
          </p:cNvSpPr>
          <p:nvPr>
            <p:ph type="subTitle" idx="1"/>
          </p:nvPr>
        </p:nvSpPr>
        <p:spPr/>
        <p:txBody>
          <a:bodyPr/>
          <a:lstStyle/>
          <a:p>
            <a:r>
              <a:rPr lang="en-US" dirty="0"/>
              <a:t>Dr. Pouyan Eslami</a:t>
            </a:r>
          </a:p>
          <a:p>
            <a:r>
              <a:rPr lang="en-US" dirty="0"/>
              <a:t>Spring 2026</a:t>
            </a:r>
          </a:p>
        </p:txBody>
      </p:sp>
    </p:spTree>
    <p:extLst>
      <p:ext uri="{BB962C8B-B14F-4D97-AF65-F5344CB8AC3E}">
        <p14:creationId xmlns:p14="http://schemas.microsoft.com/office/powerpoint/2010/main" val="934556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Project Starter: From Dataset → Research Questions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Goal today: help you turn a dataset into a researchable project.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Dataset: 10,000 synthetic social-media posts + influencer attributes + visibility + outcomes.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Core idea: humans persuade the algorithm; the algorithm shapes what humans do next.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Deliverables for your project: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 clear research question (RQ) + short motivation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 research model (variables + arrows)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Testable hypotheses + regression plan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An abstract that communicates the story in ~150–250 words</a:t>
            </a:r>
            <a:endParaRPr lang="en-US" sz="2000" dirty="0"/>
          </a:p>
        </p:txBody>
      </p:sp>
      <p:sp>
        <p:nvSpPr>
          <p:cNvPr id="4" name="Text 2"/>
          <p:cNvSpPr/>
          <p:nvPr/>
        </p:nvSpPr>
        <p:spPr>
          <a:xfrm>
            <a:off x="457200" y="6446520"/>
            <a:ext cx="11247120" cy="27432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Use this deck as a checklist. You can change layout later; focus on logic.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1: Start with a phenomenon (what looks “weird”?)</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Pick a phenomenon you can see in platforms: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Some posts “explode” even if quality seems average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Authority (followers) seems to magnify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More visibility ≠ proportionally more meaningful actions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Translate the phenomenon into a “why/how” question: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Why do similar posts get different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How does algorithmic visibility change engagement behavior?</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When does amplification help vs saturate vs backfire?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2: Define the outcome (what is “success”?)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Outcome must be specific, measurable, and meaningful.</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 this dataset you can choose: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Engagement Success (high-effort conversion): link_clicks, saves, profile_visits, engagement_success_index</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Low-effort engagement: total_likes (or low_effort_engagement)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High-effort engagement: clicks+saves+visits (high_effort_engagement)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Tip: “success” should match your story: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Popularity story → likes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Persuasion/conversion story → clicks/saves/visits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3: Identify the mechanism (what process explains success?)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Mechanism = the “because” in your story.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Our core mechanism:</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Algorithmic Amplification (visibility decisions) → reach, impressions, amplification index</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Interpretation: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Reach = exposure created by the platform’s ranking/recommendation logic</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Amplification converts early signals into broad visibility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Why this matters: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It separates “people liked it” from “platform showed it”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4: Define the main antecedent (what causes the mechanism?)</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Antecedent = the key driver you believe triggers the mechanism.</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Persuasive Power (early engagement signals):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early_likes, early_comments, early_shares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early_total_engagement, early_engagement_velocity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persuasive_power_index (composite)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Conceptual logic:</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Early reactions are machine-readable “heuristics” (popularity, momentum)</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They are inputs the algorithm can use before humans see the post at scale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5: Add boundary conditions (when/for whom does it work?)</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Boundary conditions explain heterogeneity.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Key boundary in our model:</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Influencer Authority (follower_count / authority_log)</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Why authority matters: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Algorithms may weight the same signal differently depending on authority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Humans may treat amplified content as more credible when it comes from authorities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Optional class controls/context: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content_type, post_format, verified, account_age_years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6: Write 2–4 crisp research questions (examples)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Example research questions you can use (or refine):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RQ1: Do early engagement signals increase algorithmic amplification?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RQ2: Does algorithmic amplification increase engagement success (conversion)?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RQ3: Does amplification mediate the effect of persuasive power on success?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RQ4: Does influencer authority change how signals become reach and how reach becomes success?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Advanced RQs: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 we see diminishing returns at high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Does amplification mainly boost low-effort engagement vs high-effort engagement?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Does extreme amplification backfire for conversion?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7: Map RQs to the research model (arrows)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Core arrows: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Persuasive Power → Algorithmic Amplification → Engagement Success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Persuasive Power → Engagement Success (direct)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Moderation: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Authority moderates Persuasive Power → Amplification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Authority moderates Amplification → Success (optional but included in our set)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Nonlinear + boundary effects: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Diminishing returns of amplification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Adverse boundary at very high amplification</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8: Your hypothesis set (H1–H10) in one view</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Core: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H1: Persuasive Power → Amplification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H2a: Amplification → Engagement Success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H2b: Mediation via Amplification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H3: Direct Persuasive Power → Success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Authority: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H4: Authority × (Persuasive Power → Amplification)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H5: Moderated mediation (indirect stronger with authority)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H10: Authority × (Amplification → Success)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Visibility dynamics: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H6: Substitution (PP effect weakens as amplification increases)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H7: Diminishing returns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H8: Low-effort &gt; High-effort boost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H9: Adverse boundary at extreme amplification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RQ Step 9: Student project menu (pick one “spine”)</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Option A (Core model): H1–H5 using persuasive_power_index, reach, engagement_success_index</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Option B (Authority focus): emphasize H4, H5, H10</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Option C (Visibility dynamics): emphasize H6–H9</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Option D (Engagement types): treat low-effort and high-effort as separate outcomes (H8)</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Rule of thumb for a class project: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Choose 1–2 core hypotheses + 1 extension hypothesis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Keep your model interpretable; don’t throw in everything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2194560"/>
            <a:ext cx="10972800" cy="914400"/>
          </a:xfrm>
          <a:prstGeom prst="rect">
            <a:avLst/>
          </a:prstGeom>
          <a:noFill/>
          <a:ln/>
        </p:spPr>
        <p:txBody>
          <a:bodyPr wrap="square" rtlCol="0" anchor="ctr"/>
          <a:lstStyle/>
          <a:p>
            <a:pPr marL="0" indent="0">
              <a:buNone/>
            </a:pPr>
            <a:r>
              <a:rPr lang="en-US" sz="4400" b="1" dirty="0">
                <a:solidFill>
                  <a:srgbClr val="000000"/>
                </a:solidFill>
                <a:latin typeface="Calibri" pitchFamily="34" charset="0"/>
                <a:ea typeface="Calibri" pitchFamily="34" charset="-122"/>
                <a:cs typeface="Calibri" pitchFamily="34" charset="-120"/>
              </a:rPr>
              <a:t>Multivariate Analysis &amp; Measurement</a:t>
            </a:r>
            <a:endParaRPr lang="en-US" sz="4400" dirty="0"/>
          </a:p>
        </p:txBody>
      </p:sp>
      <p:sp>
        <p:nvSpPr>
          <p:cNvPr id="3" name="Text 1"/>
          <p:cNvSpPr/>
          <p:nvPr/>
        </p:nvSpPr>
        <p:spPr>
          <a:xfrm>
            <a:off x="640080" y="3200400"/>
            <a:ext cx="10972800" cy="914400"/>
          </a:xfrm>
          <a:prstGeom prst="rect">
            <a:avLst/>
          </a:prstGeom>
          <a:noFill/>
          <a:ln/>
        </p:spPr>
        <p:txBody>
          <a:bodyPr wrap="square" rtlCol="0" anchor="ctr"/>
          <a:lstStyle/>
          <a:p>
            <a:pPr marL="0" indent="0">
              <a:buNone/>
            </a:pPr>
            <a:r>
              <a:rPr lang="en-US" sz="2200" dirty="0">
                <a:solidFill>
                  <a:srgbClr val="555555"/>
                </a:solidFill>
                <a:latin typeface="Calibri" pitchFamily="34" charset="0"/>
                <a:ea typeface="Calibri" pitchFamily="34" charset="-122"/>
                <a:cs typeface="Calibri" pitchFamily="34" charset="-120"/>
              </a:rPr>
              <a:t>Regression-based mediation, moderation, and formative constructs (no SEM required)</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What is multivariate analysis?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Multivariate analysis = models with multiple predictors (and sometimes multiple outcomes).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Why we use it: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Separate mechanisms (visibility) from outcomes (conversion)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Estimate “ceteris paribus” effects (holding other factors constant)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Test mediation, moderation, nonlinearities, and boundary conditions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Why bivariate analysis misleads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Two-variable correlations can be wrong for causal stories.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Common pitfalls: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Omitted variable bias (authority drives both reach and engagement)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Simpson’s paradox (aggregates hide subgroup patterns)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Reverse timing (outcome variables feeding into “predictors”)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Multivariate models let you test your theory structure explicitly.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Regression anatomy (plain English)</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General form:</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Y = β0 + β1X + β2Z + … + error</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Interpretation: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β1 is the expected change in Y for a 1-unit change in X, holding others constant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Typical choices for social-media data:</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Use log1p() for heavy-tailed counts (likes,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Consider Poisson/NegBin if using raw counts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Choosing the dependent variable (Y): levels vs rates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Levels (counts) answer: “How much engagement happened?”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total_likes, link_clicks, saves, engagement_success_index</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Rates answer: “How efficient was visibility?”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click_through_rate = link_clicks /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save_rate = saves / reach</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Tip:</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Use levels for core causal chain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Use rates as robustness or for interpretation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a:solidFill>
                  <a:srgbClr val="000000"/>
                </a:solidFill>
                <a:latin typeface="Calibri" pitchFamily="34" charset="0"/>
                <a:ea typeface="Calibri" pitchFamily="34" charset="-122"/>
                <a:cs typeface="Calibri" pitchFamily="34" charset="-120"/>
              </a:rPr>
              <a:t>Mediation: what it means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a:solidFill>
                  <a:srgbClr val="000000"/>
                </a:solidFill>
                <a:latin typeface="Calibri" pitchFamily="34" charset="0"/>
                <a:ea typeface="Calibri" pitchFamily="34" charset="-122"/>
                <a:cs typeface="Calibri" pitchFamily="34" charset="-120"/>
              </a:rPr>
              <a:t>Mediation asks: “Through what mechanism does X affect Y?”</a:t>
            </a:r>
            <a:endParaRPr lang="en-US" sz="2000"/>
          </a:p>
          <a:p>
            <a:pPr marL="0" indent="0">
              <a:buNone/>
            </a:pPr>
            <a:endParaRPr lang="en-US" sz="2000"/>
          </a:p>
          <a:p>
            <a:pPr marL="0" indent="0">
              <a:buNone/>
            </a:pPr>
            <a:r>
              <a:rPr lang="en-US" sz="2000">
                <a:solidFill>
                  <a:srgbClr val="000000"/>
                </a:solidFill>
                <a:latin typeface="Calibri" pitchFamily="34" charset="0"/>
                <a:ea typeface="Calibri" pitchFamily="34" charset="-122"/>
                <a:cs typeface="Calibri" pitchFamily="34" charset="-120"/>
              </a:rPr>
              <a:t>Paths:</a:t>
            </a:r>
            <a:endParaRPr lang="en-US" sz="2000"/>
          </a:p>
          <a:p>
            <a:pPr marL="0" indent="0">
              <a:buNone/>
            </a:pPr>
            <a:r>
              <a:rPr lang="en-US" sz="2000">
                <a:solidFill>
                  <a:srgbClr val="000000"/>
                </a:solidFill>
                <a:latin typeface="Calibri" pitchFamily="34" charset="0"/>
                <a:ea typeface="Calibri" pitchFamily="34" charset="-122"/>
                <a:cs typeface="Calibri" pitchFamily="34" charset="-120"/>
              </a:rPr>
              <a:t>• a-path: X → M</a:t>
            </a:r>
            <a:endParaRPr lang="en-US" sz="2000"/>
          </a:p>
          <a:p>
            <a:pPr marL="0" indent="0">
              <a:buNone/>
            </a:pPr>
            <a:r>
              <a:rPr lang="en-US" sz="2000">
                <a:solidFill>
                  <a:srgbClr val="000000"/>
                </a:solidFill>
                <a:latin typeface="Calibri" pitchFamily="34" charset="0"/>
                <a:ea typeface="Calibri" pitchFamily="34" charset="-122"/>
                <a:cs typeface="Calibri" pitchFamily="34" charset="-120"/>
              </a:rPr>
              <a:t>• b-path: M → Y (controlling X)</a:t>
            </a:r>
            <a:endParaRPr lang="en-US" sz="2000"/>
          </a:p>
          <a:p>
            <a:pPr marL="0" indent="0">
              <a:buNone/>
            </a:pPr>
            <a:r>
              <a:rPr lang="en-US" sz="2000">
                <a:solidFill>
                  <a:srgbClr val="000000"/>
                </a:solidFill>
                <a:latin typeface="Calibri" pitchFamily="34" charset="0"/>
                <a:ea typeface="Calibri" pitchFamily="34" charset="-122"/>
                <a:cs typeface="Calibri" pitchFamily="34" charset="-120"/>
              </a:rPr>
              <a:t>• c′-path: direct X → Y (controlling M)</a:t>
            </a:r>
            <a:endParaRPr lang="en-US" sz="2000"/>
          </a:p>
          <a:p>
            <a:pPr marL="0" indent="0">
              <a:buNone/>
            </a:pPr>
            <a:r>
              <a:rPr lang="en-US" sz="2000">
                <a:solidFill>
                  <a:srgbClr val="000000"/>
                </a:solidFill>
                <a:latin typeface="Calibri" pitchFamily="34" charset="0"/>
                <a:ea typeface="Calibri" pitchFamily="34" charset="-122"/>
                <a:cs typeface="Calibri" pitchFamily="34" charset="-120"/>
              </a:rPr>
              <a:t>• indirect effect: a × b</a:t>
            </a:r>
            <a:endParaRPr lang="en-US" sz="2000"/>
          </a:p>
          <a:p>
            <a:pPr marL="0" indent="0">
              <a:buNone/>
            </a:pPr>
            <a:endParaRPr lang="en-US" sz="2000"/>
          </a:p>
          <a:p>
            <a:pPr marL="0" indent="0">
              <a:buNone/>
            </a:pPr>
            <a:r>
              <a:rPr lang="en-US" sz="2000">
                <a:solidFill>
                  <a:srgbClr val="000000"/>
                </a:solidFill>
                <a:latin typeface="Calibri" pitchFamily="34" charset="0"/>
                <a:ea typeface="Calibri" pitchFamily="34" charset="-122"/>
                <a:cs typeface="Calibri" pitchFamily="34" charset="-120"/>
              </a:rPr>
              <a:t>In our story:</a:t>
            </a:r>
            <a:endParaRPr lang="en-US" sz="2000"/>
          </a:p>
          <a:p>
            <a:pPr marL="0" indent="0">
              <a:buNone/>
            </a:pPr>
            <a:r>
              <a:rPr lang="en-US" sz="2000">
                <a:solidFill>
                  <a:srgbClr val="000000"/>
                </a:solidFill>
                <a:latin typeface="Calibri" pitchFamily="34" charset="0"/>
                <a:ea typeface="Calibri" pitchFamily="34" charset="-122"/>
                <a:cs typeface="Calibri" pitchFamily="34" charset="-120"/>
              </a:rPr>
              <a:t>X = Persuasive Power, M = Algorithmic Amplification, Y = Engagement Success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Testing mediation with regression (no SEM)</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Step 1 (a-path):  Amplification = f(Persuasive Power, controls)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Step 2 (b + c′):  Success = f(Amplification, Persuasive Power, controls)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Indirect effect: a × b</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Best practice: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Use bootstrapped confidence intervals for the indirect effect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Use clustered SEs by influencer_id (posts are nested)</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Moderation: what it means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Moderation asks: “When/for whom is an effect stronger or weaker?”</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Model pattern: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Y = … + β1X + β2W + β3(X×W) + …</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Interpretation: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β3 tells you how the X→Y slope changes with W</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 our story: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 = authority_log (influencer authority)</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Testing moderation: practical tips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Do this: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Mean-center or z-score X and W before creating X×W</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Plot simple slopes at low/medium/high W</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Report marginal effects (not only p-values)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Avoid this: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Interpreting main effects without considering the interaction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Adding interactions everywhere “just to try”</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Moderated mediation (the payoff)</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Question: “Does the indirect effect depend on authority?”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 our model:</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Authority moderates X→M (H4)</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Therefore the indirect effect (X→M→Y) varies by authority (H5)</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How to test: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Estimate conditional indirect effect at low/medium/high authority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Bootstrap the “index of moderated mediation”</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Nonlinear effects: diminishing returns (H7)</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Why nonlinearities matter:</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Attention saturates; audiences mismatch at scale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Simple approach: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Add a quadratic term: log(reach)^2 or reach^2</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Success = … + β1log(reach) + β2log(reach)^2 + …</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Interpretation: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β2 &lt; 0 indicates diminishing returns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Boundary conditions: adverse amplification (H9)</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Idea: at extreme visibility, persuasion can weaken or backfire.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Operationalization options: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very_high_reach dummy (e.g., top 5%)</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interaction: Persuasive Power × very_high_reach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piecewise regression (low vs very high reach)</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Interpretation: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test whether slopes change in the extreme tail</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Multiple outcomes: low-effort vs high-effort (H8)</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Low-effort outcomes (heuristic-dominant):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total_likes (or views if available)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High-effort outcomes (systematic/conversion):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link_clicks, saves, profile_visits, engagement_success_index</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Test H8 by comparing reach coefficients across models: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reach → likes should be stronger than reach → clicks/saves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Model choice for social-media variables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Counts are heavy-tailed and overdispersed.</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Common choices: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OLS on log1p(Y) (simple + interpretable for class)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Poisson regression (counts; assumes mean=variance)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Negative binomial (counts; handles overdispersion)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Logistic (binary outcomes like “viral yes/no”)</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For class: start with OLS(log1p) + robust SE, then extend.</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Dependence: posts nested within influencers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Why it matters: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Same influencer posts share audience, style, baseline reach</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Practical fixes: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Cluster standard errors by influencer_id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Consider influencer fixed effects (if needed for robustness)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Report both if you want to teach sensitivity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Reflective vs formative constructs (key difference)</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Reflective: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Latent trait → items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Items are interchangeable &amp; highly correlated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Dropping one item shouldn’t change meaning much</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Formative: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Items → construct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Items capture distinct facets; not interchangeable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Dropping an item can change meaning</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Reflective constructs: how people usually validate</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Typical checks (survey world):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Cronbach’s alpha / omega</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Factor loadings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Convergent/discriminant validity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But…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Our platform metrics are behavioral signals, not survey items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Many of our constructs are more naturally formative</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Formative constructs: how to validate (practical)</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Formative validation focuses 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Content validity: do indicators cover the construct domain?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Multicollinearity: VIF for indicators (avoid redundancy)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Weight stability: do results change if weights change?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Sensitivity checks: drop one indicator at a time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Key message: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Don’t use Cronbach’s alpha to “prove” a formative construct.</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Creating multi-indicator formative constructs (our dataset)</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Persuasive Power indicators: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early_likes, early_comments, early_shares, early_engagement_velocity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Algorithmic Amplification indicators: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reach, impressions, impressions_per_reach, exposure_persistence_hours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Engagement Success indicators: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link_clicks, saves, profile_visits (and rates as robustness)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How to build an index (simple for class):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z-score indicators → weighted sum → index</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Measurement separation rule (avoid construct overlap)</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Keep stages distinct: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Inputs (early signals): early_*</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Mediator (visibility): reach/impressions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Outcomes (conversion): clicks/saves/visits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Avoid leakage: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Don’t use total_likes inside persuasive power if likes are also an outcome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Don’t use engagement rates inside amplification (rates combine reach + engagement)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This separation makes causal interpretation cleaner.</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40080" y="2194560"/>
            <a:ext cx="10972800" cy="914400"/>
          </a:xfrm>
          <a:prstGeom prst="rect">
            <a:avLst/>
          </a:prstGeom>
          <a:noFill/>
          <a:ln/>
        </p:spPr>
        <p:txBody>
          <a:bodyPr wrap="square" rtlCol="0" anchor="ctr"/>
          <a:lstStyle/>
          <a:p>
            <a:pPr marL="0" indent="0">
              <a:buNone/>
            </a:pPr>
            <a:r>
              <a:rPr lang="en-US" sz="4400" b="1" dirty="0">
                <a:solidFill>
                  <a:srgbClr val="000000"/>
                </a:solidFill>
                <a:latin typeface="Calibri" pitchFamily="34" charset="0"/>
                <a:ea typeface="Calibri" pitchFamily="34" charset="-122"/>
                <a:cs typeface="Calibri" pitchFamily="34" charset="-120"/>
              </a:rPr>
              <a:t>Feature Engineering</a:t>
            </a:r>
            <a:endParaRPr lang="en-US" sz="4400" dirty="0"/>
          </a:p>
        </p:txBody>
      </p:sp>
      <p:sp>
        <p:nvSpPr>
          <p:cNvPr id="3" name="Text 1"/>
          <p:cNvSpPr/>
          <p:nvPr/>
        </p:nvSpPr>
        <p:spPr>
          <a:xfrm>
            <a:off x="640080" y="3200400"/>
            <a:ext cx="10972800" cy="914400"/>
          </a:xfrm>
          <a:prstGeom prst="rect">
            <a:avLst/>
          </a:prstGeom>
          <a:noFill/>
          <a:ln/>
        </p:spPr>
        <p:txBody>
          <a:bodyPr wrap="square" rtlCol="0" anchor="ctr"/>
          <a:lstStyle/>
          <a:p>
            <a:pPr marL="0" indent="0">
              <a:buNone/>
            </a:pPr>
            <a:r>
              <a:rPr lang="en-US" sz="2200" dirty="0">
                <a:solidFill>
                  <a:srgbClr val="555555"/>
                </a:solidFill>
                <a:latin typeface="Calibri" pitchFamily="34" charset="0"/>
                <a:ea typeface="Calibri" pitchFamily="34" charset="-122"/>
                <a:cs typeface="Calibri" pitchFamily="34" charset="-120"/>
              </a:rPr>
              <a:t>Turning raw platform metrics into analysis-ready variables</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Why feature engineering matters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Raw platform metrics are noisy, skewed, and often incomparable.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Feature engineering helps you:</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Improve interpretability (logs, rates)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Capture dynamics (velocity, persistence)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Test theory (interactions, thresholds)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Avoid misleading results (outliers, scaling)</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Transformations for skewed counts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Common transformations: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log1p(x) = log(1+x) (handles zeros)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z-score standardization (good for interactions and indices)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winsorize / cap extreme outliers (document the rule)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In this dataset you can try: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log(reach), log(impressions), log(total_likes), log(link_clicks)</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Rates &amp; efficiency features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Rates answer: “How much outcome per unit of visibility?”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Available in dataset: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click_through_rate = link_clicks /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save_rate = saves / reach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impressions_per_reach</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Use cases: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robustness checks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teaching why “more reach” doesn’t always mean “more conversion”</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Temporal / dynamics features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Dynamic features capture momentum and persistence: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early_engagement_velocity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reach_growth_rate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exposure_persistence_hours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Teaching angle: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“velocity” often matters more than “total” for algorithms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persistence captures long-tail recommendation behavior</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Interaction features (theory-driven)</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Interactions implement moderation hypotheses.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Key interactions in our model:</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persuasive_power_index × authority_log  (H4)</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reach × authority_log  (H10)</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persuasive_power_index × log(reach) (H6: substitution)</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Tip:</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standardize components before multiplying</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Nonlinear features: diminishing returns &amp; thresholds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For H7 (diminishing returns):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include log(reach)^2</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For H9 (adverse boundary):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use very_high_reach (top tail flag)</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test slope differences in the tail</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Alternative teaching option: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split reach into quantile bins and compare effects</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Engagement-type decomposition (H8)</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Low-effort engagement: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total_likes (low_effort_engagement)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High-effort engagement: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link_clicks + saves + profile_visits (high_effort_engagement)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Analysis idea:</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run the same model twice with different Y and compare coefficients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Handling missingness, zeros, and outliers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Typical patterns in platform data:</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Many zeros (no clicks, no saves)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Heavy right tails (viral posts)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Practical solutions: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log1p for zeros + tails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robust/HC SEs + clustering</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sensitivity checks: remove top 1% and re-estimate</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Feature engineering checklist (student-ready)</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Before modeling:</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Define time window (early vs total)</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Decide outcomes (conversion vs popularity)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Transform heavy tails (log1p)</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Create theory-driven interactions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Add nonlinear terms only when justified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Check VIF / multicollinearity</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Document every feature you create (name + formula)</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40080" y="2194560"/>
            <a:ext cx="10972800" cy="914400"/>
          </a:xfrm>
          <a:prstGeom prst="rect">
            <a:avLst/>
          </a:prstGeom>
          <a:noFill/>
          <a:ln/>
        </p:spPr>
        <p:txBody>
          <a:bodyPr wrap="square" rtlCol="0" anchor="ctr"/>
          <a:lstStyle/>
          <a:p>
            <a:pPr marL="0" indent="0">
              <a:buNone/>
            </a:pPr>
            <a:r>
              <a:rPr lang="en-US" sz="4400" b="1" dirty="0">
                <a:solidFill>
                  <a:srgbClr val="000000"/>
                </a:solidFill>
                <a:latin typeface="Calibri" pitchFamily="34" charset="0"/>
                <a:ea typeface="Calibri" pitchFamily="34" charset="-122"/>
                <a:cs typeface="Calibri" pitchFamily="34" charset="-120"/>
              </a:rPr>
              <a:t>Writing the Abstract</a:t>
            </a:r>
            <a:endParaRPr lang="en-US" sz="4400" dirty="0"/>
          </a:p>
        </p:txBody>
      </p:sp>
      <p:sp>
        <p:nvSpPr>
          <p:cNvPr id="3" name="Text 1"/>
          <p:cNvSpPr/>
          <p:nvPr/>
        </p:nvSpPr>
        <p:spPr>
          <a:xfrm>
            <a:off x="640080" y="3200400"/>
            <a:ext cx="10972800" cy="914400"/>
          </a:xfrm>
          <a:prstGeom prst="rect">
            <a:avLst/>
          </a:prstGeom>
          <a:noFill/>
          <a:ln/>
        </p:spPr>
        <p:txBody>
          <a:bodyPr wrap="square" rtlCol="0" anchor="ctr"/>
          <a:lstStyle/>
          <a:p>
            <a:pPr marL="0" indent="0">
              <a:buNone/>
            </a:pPr>
            <a:r>
              <a:rPr lang="en-US" sz="2200" dirty="0">
                <a:solidFill>
                  <a:srgbClr val="555555"/>
                </a:solidFill>
                <a:latin typeface="Calibri" pitchFamily="34" charset="0"/>
                <a:ea typeface="Calibri" pitchFamily="34" charset="-122"/>
                <a:cs typeface="Calibri" pitchFamily="34" charset="-120"/>
              </a:rPr>
              <a:t>How to summarize the project in 150–250 words</a:t>
            </a:r>
            <a:endParaRPr lang="en-US"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What an abstract must do (fast)</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An abstract is a self-contained mini-paper.</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It should include: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Context (1–2 lines): what problem/phenomenon?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Gap (1 line): what do we not know?</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Method (1–2 lines): data + approach</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Key result(s) (1–2 lines): what did you find?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Contribution/implications (1 line): why it matters</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A simple 5-sentence abstract template</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1) Context: In algorithmic platforms, visibility is curated by recommender systems.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2) Gap: We know less about how early persuasion signals become amplified and shape downstream engagement.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3) Method: Using 10,000 posts, we estimate regression-based mediation/moderation models.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4) Results: Early engagement predicts reach; reach predicts conversion; effects vary by authority and saturate at scale.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5) Contribution: Extends HSM by showing heuristic cues are operationalized upstream by algorithms.</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Writing the “contribution” sentence</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Good contribution sentences are specific:</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“We extend HSM by modeling algorithmic amplification as upstream heuristic processing.”</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“We show when visibility substitutes for evaluation and when extreme amplification backfires.”</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Avoid vague claims: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“This paper contributes to the literature…” (without saying how)</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“Important implications for social media” (without specifying what)</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Method sentence examples (no SEM)</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Examples you can adapt: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“We use regression-based conditional process analysis with bootstrapped indirect effects.”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“We estimate mediation, moderation, and nonlinear specifications with clustered standard errors.”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“We compare low-effort and high-effort engagement outcomes to test engagement-type sensitivity.”</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Results sentence examples (write with placeholders)</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Structure: direction + mechanism + boundary.</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Examples: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“Persuasive power positively predicts reach, and reach mediates its effect on engagement success.”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“Authority strengthens the translation of persuasion signals into reach and the effect of reach on success.”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“Amplification shows diminishing returns and adverse effects in the extreme tail.”</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Common abstract mistakes (easy to fix)</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Avoid:</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Too much background; no gap</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Methods without results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Results without contribution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Undefined acronyms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Claiming causality without careful wording</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Fix:</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Write it as: problem → model → method → result → contribution</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Mini example abstract (teaching example)</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Algorithmic platforms shape what people see, influencing how persuasion spreads online. Building on the Heuristic–Systematic Model, we conceptualize persuasion as an algorithm-mediated process in which early engagement signals first influence platform amplification and subsequently shape downstream engagement outcomes. Using a teaching dataset of 10,000 social-media posts, we estimate regression-based mediation and moderation models with clustered standard errors and bootstrapped indirect effects. Results show that early persuasive signals increase algorithmic reach, reach predicts engagement success (conversion), and the indirect effect is stronger for high-authority influencers. We also observe diminishing returns and adverse effects at extreme amplification, and amplification disproportionately boosts low-effort engagement relative to high-effort actions. These findings extend HSM by demonstrating that heuristic cues are operationalized upstream by algorithms, reshaping the conditions under which systematic evaluation occurs.</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Student checklist: what to submit</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Submit (1–2 pages + appendix):</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Research question(s) + motivation (why we care)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Research model diagram (variables + arrows)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Hypotheses (choose 3–6 for class project)</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Operationalization table (columns → constructs)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Regression plan (which equations; which controls)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150–250 word abstract</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Bonus: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One robustness check (log transform, rate outcome, or tail sensitivity)</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Next steps in class (20-minute sprint plan)</a:t>
            </a:r>
            <a:endParaRPr lang="en-US" sz="3400" dirty="0"/>
          </a:p>
        </p:txBody>
      </p:sp>
      <p:sp>
        <p:nvSpPr>
          <p:cNvPr id="3" name="Text 1"/>
          <p:cNvSpPr/>
          <p:nvPr/>
        </p:nvSpPr>
        <p:spPr>
          <a:xfrm>
            <a:off x="731520" y="1143000"/>
            <a:ext cx="10789920" cy="5394960"/>
          </a:xfrm>
          <a:prstGeom prst="rect">
            <a:avLst/>
          </a:prstGeom>
          <a:noFill/>
          <a:ln/>
        </p:spPr>
        <p:txBody>
          <a:bodyPr wrap="square" rtlCol="0" anchor="t"/>
          <a:lstStyle/>
          <a:p>
            <a:pPr marL="0" indent="0">
              <a:buNone/>
            </a:pPr>
            <a:r>
              <a:rPr lang="en-US" sz="2000" dirty="0">
                <a:solidFill>
                  <a:srgbClr val="000000"/>
                </a:solidFill>
                <a:latin typeface="Calibri" pitchFamily="34" charset="0"/>
                <a:ea typeface="Calibri" pitchFamily="34" charset="-122"/>
                <a:cs typeface="Calibri" pitchFamily="34" charset="-120"/>
              </a:rPr>
              <a:t>1) Pick your outcome (conversion vs likes).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2) Pick your model spine (mediation + one moderator).</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3) Create constructs (indices) + log transforms.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4) Run 2 regressions (a-path, then b + c′).</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5) Add interaction(s) for moderation.</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6) Write your abstract using the 5-sentence template.</a:t>
            </a:r>
            <a:endParaRPr lang="en-US" sz="2000" dirty="0"/>
          </a:p>
          <a:p>
            <a:pPr marL="0" indent="0">
              <a:buNone/>
            </a:pP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Reminder: theory first, then statistics.</a:t>
            </a:r>
            <a:endParaRPr lang="en-US" sz="2000" dirty="0"/>
          </a:p>
        </p:txBody>
      </p:sp>
      <p:sp>
        <p:nvSpPr>
          <p:cNvPr id="4" name="Text 2"/>
          <p:cNvSpPr/>
          <p:nvPr/>
        </p:nvSpPr>
        <p:spPr>
          <a:xfrm>
            <a:off x="457200" y="6446520"/>
            <a:ext cx="11247120" cy="27432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Good projects are narrow, well-argued, and transparent—don’t try to model the universe.</a:t>
            </a:r>
            <a:endParaRPr lang="en-US" sz="120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3</TotalTime>
  <Words>3630</Words>
  <Application>Microsoft Office PowerPoint</Application>
  <PresentationFormat>Widescreen</PresentationFormat>
  <Paragraphs>512</Paragraphs>
  <Slides>51</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Gill Sans MT</vt:lpstr>
      <vt:lpstr>Gallery</vt:lpstr>
      <vt:lpstr>BANA 698 : Research Method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Eslami, Pouyan</cp:lastModifiedBy>
  <cp:revision>2</cp:revision>
  <dcterms:created xsi:type="dcterms:W3CDTF">2026-02-03T02:13:49Z</dcterms:created>
  <dcterms:modified xsi:type="dcterms:W3CDTF">2026-02-03T02:27:26Z</dcterms:modified>
</cp:coreProperties>
</file>