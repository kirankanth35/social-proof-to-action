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6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1" r:id="rId7"/>
    <p:sldId id="272" r:id="rId8"/>
    <p:sldId id="262" r:id="rId9"/>
    <p:sldId id="273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4875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5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4389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71027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87679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 spc="3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4412767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90926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21606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21606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12847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533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93391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18456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4252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78369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10113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9342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262393"/>
            <a:ext cx="9692640" cy="1428929"/>
          </a:xfrm>
          <a:prstGeom prst="rect">
            <a:avLst/>
          </a:prstGeo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870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  <p:sldLayoutId id="2147483848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-5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669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dirty="0">
                <a:solidFill>
                  <a:srgbClr val="C41230"/>
                </a:solidFill>
              </a:rPr>
              <a:t>CALIFORNIA STATE UNIVERSITY, NORTHRIDGE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/>
              <a:t>BANA 698 Final Presentation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4708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/>
              <a:t>From Social Proof to Action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243230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/>
              <a:t>Algorithmic amplification as a conditional mechanism with reach saturation and authority effects</a:t>
            </a:r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960120" cy="0"/>
          </a:xfrm>
          <a:prstGeom prst="line">
            <a:avLst/>
          </a:prstGeom>
          <a:ln w="3175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/>
              <a:t>Kiran Kanth Madigani  |  Adhunika Kandala</a:t>
            </a:r>
          </a:p>
          <a:p>
            <a:r>
              <a:rPr lang="en-US" sz="1000" dirty="0"/>
              <a:t>Advisor / Committee: Pouyan Seyed Eslami ,Akash Gupta, Sheng </a:t>
            </a:r>
            <a:r>
              <a:rPr lang="en-US" sz="1000" dirty="0" err="1"/>
              <a:t>Qiuhua</a:t>
            </a:r>
            <a:r>
              <a:rPr lang="en-US" sz="1000" dirty="0"/>
              <a:t>|  May 2026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DDDBD91B-C0C5-358A-3FD3-2BCFB745DCDF}"/>
              </a:ext>
            </a:extLst>
          </p:cNvPr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A756D6-231A-C1F1-F02A-EA449168337A}"/>
              </a:ext>
            </a:extLst>
          </p:cNvPr>
          <p:cNvSpPr txBox="1"/>
          <p:nvPr/>
        </p:nvSpPr>
        <p:spPr>
          <a:xfrm>
            <a:off x="6178163" y="371325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4630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b="1" dirty="0">
                <a:solidFill>
                  <a:srgbClr val="C41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PRESENTATION</a:t>
            </a:r>
            <a:endParaRPr lang="en-US" sz="560" dirty="0"/>
          </a:p>
        </p:txBody>
      </p:sp>
      <p:sp>
        <p:nvSpPr>
          <p:cNvPr id="3" name="Text 1"/>
          <p:cNvSpPr/>
          <p:nvPr/>
        </p:nvSpPr>
        <p:spPr>
          <a:xfrm>
            <a:off x="8321040" y="146304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" dirty="0">
                <a:solidFill>
                  <a:srgbClr val="6969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CALIFORNIA STATE UNIVERSITY, NORTHRIDGE</a:t>
            </a:r>
            <a:endParaRPr lang="en-US" sz="520" dirty="0"/>
          </a:p>
        </p:txBody>
      </p:sp>
      <p:sp>
        <p:nvSpPr>
          <p:cNvPr id="4" name="Shape 2"/>
          <p:cNvSpPr/>
          <p:nvPr/>
        </p:nvSpPr>
        <p:spPr>
          <a:xfrm>
            <a:off x="228600" y="320040"/>
            <a:ext cx="11750040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503152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696969"/>
                </a:solidFill>
              </a:rPr>
              <a:t>2/7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502920" y="41833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Agenda</a:t>
            </a:r>
            <a:endParaRPr lang="en-US" sz="18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932688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1591056"/>
            <a:ext cx="201168" cy="2011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115568" y="157276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Research problem and gap</a:t>
            </a:r>
            <a:endParaRPr lang="en-US" sz="108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06640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8368" y="2176272"/>
            <a:ext cx="201168" cy="2011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8368" y="2208276"/>
            <a:ext cx="201168" cy="10972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en-US" sz="58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15568" y="21579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Research model and hypotheses</a:t>
            </a:r>
            <a:endParaRPr lang="en-US" sz="108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06640" y="21579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2761488"/>
            <a:ext cx="201168" cy="2011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8368" y="2793492"/>
            <a:ext cx="201168" cy="10972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en-US" sz="58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15568" y="27432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and methodology</a:t>
            </a:r>
            <a:endParaRPr lang="en-US" sz="108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06640" y="2743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3346704"/>
            <a:ext cx="201168" cy="2011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8368" y="3378708"/>
            <a:ext cx="201168" cy="10972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lang="en-US" sz="58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15568" y="332841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Key findings</a:t>
            </a:r>
            <a:endParaRPr lang="en-US" sz="108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7406640" y="33284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58368" y="3931920"/>
            <a:ext cx="201168" cy="2011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8368" y="3963924"/>
            <a:ext cx="201168" cy="10972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 lang="en-US" sz="58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15568" y="39136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Contributions, limitations, and Takeaways</a:t>
            </a:r>
            <a:endParaRPr lang="en-US" sz="108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7406640" y="39136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990874-2196-98E9-D1E2-C1D2503E376E}"/>
              </a:ext>
            </a:extLst>
          </p:cNvPr>
          <p:cNvSpPr txBox="1"/>
          <p:nvPr/>
        </p:nvSpPr>
        <p:spPr>
          <a:xfrm>
            <a:off x="4371703" y="39972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A60A199F-180C-95AC-11C8-838255BB9919}"/>
              </a:ext>
            </a:extLst>
          </p:cNvPr>
          <p:cNvSpPr/>
          <p:nvPr/>
        </p:nvSpPr>
        <p:spPr>
          <a:xfrm>
            <a:off x="585216" y="1537485"/>
            <a:ext cx="347472" cy="347472"/>
          </a:xfrm>
          <a:prstGeom prst="rect">
            <a:avLst/>
          </a:prstGeom>
          <a:solidFill>
            <a:srgbClr val="C41230"/>
          </a:solidFill>
          <a:ln>
            <a:solidFill>
              <a:srgbClr val="C4123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C4C73D88-0D7A-4C5A-526A-DB36E09C3419}"/>
              </a:ext>
            </a:extLst>
          </p:cNvPr>
          <p:cNvSpPr/>
          <p:nvPr/>
        </p:nvSpPr>
        <p:spPr>
          <a:xfrm>
            <a:off x="585216" y="2113805"/>
            <a:ext cx="347472" cy="347472"/>
          </a:xfrm>
          <a:prstGeom prst="rect">
            <a:avLst/>
          </a:prstGeom>
          <a:solidFill>
            <a:srgbClr val="C41230"/>
          </a:solidFill>
          <a:ln>
            <a:solidFill>
              <a:srgbClr val="C4123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F0A92013-7B14-32C9-F529-AAE2E6597FED}"/>
              </a:ext>
            </a:extLst>
          </p:cNvPr>
          <p:cNvSpPr/>
          <p:nvPr/>
        </p:nvSpPr>
        <p:spPr>
          <a:xfrm>
            <a:off x="595155" y="2690125"/>
            <a:ext cx="347472" cy="347472"/>
          </a:xfrm>
          <a:prstGeom prst="rect">
            <a:avLst/>
          </a:prstGeom>
          <a:solidFill>
            <a:srgbClr val="C41230"/>
          </a:solidFill>
          <a:ln>
            <a:solidFill>
              <a:srgbClr val="C4123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CCD80879-4415-A74D-07DE-5F16B242EB59}"/>
              </a:ext>
            </a:extLst>
          </p:cNvPr>
          <p:cNvSpPr/>
          <p:nvPr/>
        </p:nvSpPr>
        <p:spPr>
          <a:xfrm>
            <a:off x="589192" y="3311022"/>
            <a:ext cx="347472" cy="347472"/>
          </a:xfrm>
          <a:prstGeom prst="rect">
            <a:avLst/>
          </a:prstGeom>
          <a:solidFill>
            <a:srgbClr val="C41230"/>
          </a:solidFill>
          <a:ln>
            <a:solidFill>
              <a:srgbClr val="C4123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43D16134-679D-F232-C97F-FFB034945998}"/>
              </a:ext>
            </a:extLst>
          </p:cNvPr>
          <p:cNvSpPr/>
          <p:nvPr/>
        </p:nvSpPr>
        <p:spPr>
          <a:xfrm>
            <a:off x="597143" y="3834428"/>
            <a:ext cx="347472" cy="347472"/>
          </a:xfrm>
          <a:prstGeom prst="rect">
            <a:avLst/>
          </a:prstGeom>
          <a:solidFill>
            <a:srgbClr val="C41230"/>
          </a:solidFill>
          <a:ln>
            <a:solidFill>
              <a:srgbClr val="C4123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4D40EE45-C917-14D1-989B-C065E7AE3736}"/>
              </a:ext>
            </a:extLst>
          </p:cNvPr>
          <p:cNvSpPr/>
          <p:nvPr/>
        </p:nvSpPr>
        <p:spPr>
          <a:xfrm>
            <a:off x="498348" y="823545"/>
            <a:ext cx="868680" cy="73152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4630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b="1" dirty="0">
                <a:solidFill>
                  <a:srgbClr val="C41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PRESENTATION</a:t>
            </a:r>
            <a:endParaRPr lang="en-US" sz="560" dirty="0"/>
          </a:p>
        </p:txBody>
      </p:sp>
      <p:sp>
        <p:nvSpPr>
          <p:cNvPr id="3" name="Text 1"/>
          <p:cNvSpPr/>
          <p:nvPr/>
        </p:nvSpPr>
        <p:spPr>
          <a:xfrm>
            <a:off x="8482149" y="17531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" dirty="0">
                <a:solidFill>
                  <a:srgbClr val="6969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CALIFORNIA STATE UNIVERSITY, NORTHRIDGE</a:t>
            </a:r>
            <a:endParaRPr lang="en-US" sz="520" dirty="0"/>
          </a:p>
        </p:txBody>
      </p:sp>
      <p:sp>
        <p:nvSpPr>
          <p:cNvPr id="4" name="Shape 2"/>
          <p:cNvSpPr/>
          <p:nvPr/>
        </p:nvSpPr>
        <p:spPr>
          <a:xfrm>
            <a:off x="228600" y="320040"/>
            <a:ext cx="11750040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517289"/>
            <a:ext cx="475488" cy="0"/>
          </a:xfrm>
          <a:prstGeom prst="line">
            <a:avLst/>
          </a:prstGeom>
          <a:noFill/>
          <a:ln w="3810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503152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696969"/>
                </a:solidFill>
              </a:rPr>
              <a:t>3/7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502920" y="493776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11111"/>
                </a:solidFill>
              </a:rPr>
              <a:t>Research Problem and Gap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02920" y="932688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6969"/>
                </a:solidFill>
              </a:rPr>
              <a:t>Why separate visibility from meaningful engagement?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" y="1216151"/>
            <a:ext cx="3246120" cy="2578705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21792" y="1380744"/>
            <a:ext cx="530352" cy="0"/>
          </a:xfrm>
          <a:prstGeom prst="line">
            <a:avLst/>
          </a:prstGeom>
          <a:noFill/>
          <a:ln w="28575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372021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Business / research problem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1792" y="1623321"/>
            <a:ext cx="2990088" cy="21488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Posts are not seen solely because users choose them. Platform ranking and recommendation systems allocate attention at scale.</a:t>
            </a:r>
          </a:p>
          <a:p>
            <a:endParaRPr lang="en-US" sz="1050" dirty="0"/>
          </a:p>
          <a:p>
            <a:endParaRPr lang="en-US" sz="1050" dirty="0"/>
          </a:p>
          <a:p>
            <a:r>
              <a:rPr lang="en-US" sz="1050" dirty="0"/>
              <a:t>Platforms allocate attention algorithmically, not neutrally. </a:t>
            </a:r>
          </a:p>
          <a:p>
            <a:endParaRPr lang="en-US" sz="1050" dirty="0"/>
          </a:p>
          <a:p>
            <a:r>
              <a:rPr lang="en-US" sz="1050" dirty="0"/>
              <a:t>Reach does not always convert into meaningful action. </a:t>
            </a:r>
          </a:p>
          <a:p>
            <a:endParaRPr lang="en-US" sz="1050" dirty="0"/>
          </a:p>
          <a:p>
            <a:r>
              <a:rPr lang="en-US" sz="1050" dirty="0"/>
              <a:t>Performance metrics can overstate true effectiveness.</a:t>
            </a:r>
          </a:p>
        </p:txBody>
      </p:sp>
      <p:sp>
        <p:nvSpPr>
          <p:cNvPr id="13" name="Shape 11"/>
          <p:cNvSpPr/>
          <p:nvPr/>
        </p:nvSpPr>
        <p:spPr>
          <a:xfrm>
            <a:off x="4142232" y="1115567"/>
            <a:ext cx="3429000" cy="2656587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51960" y="1380744"/>
            <a:ext cx="530352" cy="0"/>
          </a:xfrm>
          <a:prstGeom prst="line">
            <a:avLst/>
          </a:prstGeom>
          <a:noFill/>
          <a:ln w="28575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51960" y="1348740"/>
            <a:ext cx="3172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Gap in prior work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251960" y="1483941"/>
            <a:ext cx="3172968" cy="2505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Prior studies often treat reach and engagement as linked outcomes, but do not clearly separate early social proof, amplification, and high-effort action.</a:t>
            </a:r>
          </a:p>
          <a:p>
            <a:endParaRPr lang="en-US" sz="1050" dirty="0"/>
          </a:p>
          <a:p>
            <a:r>
              <a:rPr lang="en-US" sz="1050" dirty="0"/>
              <a:t>Low-effort and high-effort engagement are often blurred. </a:t>
            </a:r>
          </a:p>
          <a:p>
            <a:endParaRPr lang="en-US" sz="1050" dirty="0"/>
          </a:p>
          <a:p>
            <a:r>
              <a:rPr lang="en-US" sz="1050" dirty="0"/>
              <a:t>User response and algorithm response are rarely separated clearly.</a:t>
            </a:r>
          </a:p>
          <a:p>
            <a:endParaRPr lang="en-US" sz="1050" dirty="0"/>
          </a:p>
          <a:p>
            <a:r>
              <a:rPr lang="en-US" sz="1050" dirty="0"/>
              <a:t>Authority and saturation are under-modeled together.</a:t>
            </a:r>
            <a:endParaRPr lang="en-US" sz="1050" dirty="0">
              <a:solidFill>
                <a:srgbClr val="111111"/>
              </a:solidFill>
            </a:endParaRPr>
          </a:p>
          <a:p>
            <a:pPr marL="0" indent="0">
              <a:buNone/>
            </a:pPr>
            <a:endParaRPr lang="en-US" sz="1050" dirty="0">
              <a:solidFill>
                <a:srgbClr val="111111"/>
              </a:solidFill>
            </a:endParaRP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91272" y="1115565"/>
            <a:ext cx="3611880" cy="2656587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65008" y="1380744"/>
            <a:ext cx="530352" cy="0"/>
          </a:xfrm>
          <a:prstGeom prst="line">
            <a:avLst/>
          </a:prstGeom>
          <a:noFill/>
          <a:ln w="28575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065008" y="1369641"/>
            <a:ext cx="335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Our contribution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8001000" y="1281143"/>
            <a:ext cx="3355848" cy="21834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This project tests whether early persuasive signals become action through amplification, and whether authority and high visibility change that pathway.</a:t>
            </a:r>
          </a:p>
          <a:p>
            <a:endParaRPr lang="en-US" sz="1050" dirty="0"/>
          </a:p>
          <a:p>
            <a:r>
              <a:rPr lang="en-US" sz="1050" dirty="0"/>
              <a:t>Separates signal, amplification, and outcome stages.</a:t>
            </a:r>
          </a:p>
          <a:p>
            <a:endParaRPr lang="en-US" sz="1050" dirty="0"/>
          </a:p>
          <a:p>
            <a:r>
              <a:rPr lang="en-US" sz="1050" dirty="0"/>
              <a:t>Tests authority as a boundary condition.</a:t>
            </a:r>
          </a:p>
          <a:p>
            <a:endParaRPr lang="en-US" sz="1050" dirty="0"/>
          </a:p>
          <a:p>
            <a:r>
              <a:rPr lang="en-US" sz="1050" dirty="0"/>
              <a:t>Shows diminishing returns under high visibility.</a:t>
            </a:r>
          </a:p>
        </p:txBody>
      </p:sp>
      <p:sp>
        <p:nvSpPr>
          <p:cNvPr id="21" name="Shape 19"/>
          <p:cNvSpPr/>
          <p:nvPr/>
        </p:nvSpPr>
        <p:spPr>
          <a:xfrm>
            <a:off x="530352" y="3977640"/>
            <a:ext cx="11055096" cy="594360"/>
          </a:xfrm>
          <a:prstGeom prst="rect">
            <a:avLst/>
          </a:prstGeom>
          <a:solidFill>
            <a:srgbClr val="FBE7EA"/>
          </a:solidFill>
          <a:ln w="6350">
            <a:solidFill>
              <a:srgbClr val="F0C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4050792"/>
            <a:ext cx="10835640" cy="44805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This study addresses the gap by examining 10,000 social media posts from 800 influencers, with a focus on how social proof becomes meaningful action under algorithmic visibility.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0352" y="504748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</a:rPr>
              <a:t>Core distinction: visibility is not the same as effectiveness.</a:t>
            </a:r>
            <a:endParaRPr lang="en-US" sz="17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39F4B0-3628-98A6-026E-36193B6B4AE7}"/>
              </a:ext>
            </a:extLst>
          </p:cNvPr>
          <p:cNvSpPr txBox="1"/>
          <p:nvPr/>
        </p:nvSpPr>
        <p:spPr>
          <a:xfrm>
            <a:off x="3048000" y="32469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4630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b="1" dirty="0">
                <a:solidFill>
                  <a:srgbClr val="C41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PRESENTATION</a:t>
            </a:r>
            <a:endParaRPr lang="en-US" sz="560" dirty="0"/>
          </a:p>
        </p:txBody>
      </p:sp>
      <p:sp>
        <p:nvSpPr>
          <p:cNvPr id="3" name="Text 1"/>
          <p:cNvSpPr/>
          <p:nvPr/>
        </p:nvSpPr>
        <p:spPr>
          <a:xfrm>
            <a:off x="8429897" y="164591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" dirty="0">
                <a:solidFill>
                  <a:srgbClr val="6969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CALIFORNIA STATE UNIVERSITY, NORTHRIDGE</a:t>
            </a:r>
            <a:endParaRPr lang="en-US" sz="520" dirty="0"/>
          </a:p>
        </p:txBody>
      </p:sp>
      <p:sp>
        <p:nvSpPr>
          <p:cNvPr id="4" name="Shape 2"/>
          <p:cNvSpPr/>
          <p:nvPr/>
        </p:nvSpPr>
        <p:spPr>
          <a:xfrm>
            <a:off x="228600" y="320040"/>
            <a:ext cx="11750040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flipV="1">
            <a:off x="502920" y="500137"/>
            <a:ext cx="1182757" cy="8746"/>
          </a:xfrm>
          <a:prstGeom prst="line">
            <a:avLst/>
          </a:prstGeom>
          <a:noFill/>
          <a:ln w="3810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503152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696969"/>
                </a:solidFill>
              </a:rPr>
              <a:t>4/7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502920" y="493776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11111"/>
                </a:solidFill>
              </a:rPr>
              <a:t>Research Model and Hypotheses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02920" y="932688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6969"/>
                </a:solidFill>
              </a:rPr>
              <a:t>Show the logic, not every detail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43000" y="2414016"/>
            <a:ext cx="2057400" cy="1170432"/>
          </a:xfrm>
          <a:prstGeom prst="roundRect">
            <a:avLst>
              <a:gd name="adj" fmla="val 6250"/>
            </a:avLst>
          </a:prstGeom>
          <a:solidFill>
            <a:srgbClr val="F8F8F8"/>
          </a:solidFill>
          <a:ln w="1016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35777" y="12121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RQ1: Mechanism + authority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326880" y="1499616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Do early signals translate to high-effort engagement through amplification, and does authority shape the path?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26880" y="2770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RQ2: Diminishing returns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9335777" y="303580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At what point does additional reach add less meaningful engagement?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35777" y="399135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RQ3: High-visibility condition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9326880" y="4242816"/>
            <a:ext cx="2057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Does very high visibility reduce the predictive role of persuasive power?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" y="5788152"/>
            <a:ext cx="10698480" cy="43891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rgbClr val="F0C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95528" y="5861304"/>
            <a:ext cx="1047902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Theory lens: HSM explains early cues; Source Credibility Theory explains why authority changes cue interpretation.</a:t>
            </a:r>
            <a:endParaRPr lang="en-US" sz="10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65C83D6-CF0E-244A-49BC-D182448C5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207011"/>
            <a:ext cx="8192777" cy="44439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4630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b="1" dirty="0">
                <a:solidFill>
                  <a:srgbClr val="C41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PRESENTATION</a:t>
            </a:r>
            <a:endParaRPr lang="en-US" sz="560" dirty="0"/>
          </a:p>
        </p:txBody>
      </p:sp>
      <p:sp>
        <p:nvSpPr>
          <p:cNvPr id="3" name="Text 1"/>
          <p:cNvSpPr/>
          <p:nvPr/>
        </p:nvSpPr>
        <p:spPr>
          <a:xfrm>
            <a:off x="8499566" y="182009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" dirty="0">
                <a:solidFill>
                  <a:srgbClr val="6969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CALIFORNIA STATE UNIVERSITY, NORTHRIDGE</a:t>
            </a:r>
            <a:endParaRPr lang="en-US" sz="520" dirty="0"/>
          </a:p>
        </p:txBody>
      </p:sp>
      <p:sp>
        <p:nvSpPr>
          <p:cNvPr id="4" name="Shape 2"/>
          <p:cNvSpPr/>
          <p:nvPr/>
        </p:nvSpPr>
        <p:spPr>
          <a:xfrm>
            <a:off x="228600" y="320040"/>
            <a:ext cx="11750040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503152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696969"/>
                </a:solidFill>
              </a:rPr>
              <a:t>5/7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502920" y="493776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11111"/>
                </a:solidFill>
              </a:rPr>
              <a:t>Data and Methodology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02920" y="940639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6969"/>
                </a:solidFill>
              </a:rPr>
              <a:t>What data did we use and how did we analyze it?</a:t>
            </a:r>
            <a:endParaRPr lang="en-US" sz="850" dirty="0"/>
          </a:p>
        </p:txBody>
      </p:sp>
      <p:pic>
        <p:nvPicPr>
          <p:cNvPr id="9" name="Image 0" descr="/mnt/data/pres_assets/data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98448"/>
            <a:ext cx="5074920" cy="19202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3474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10,000</a:t>
            </a:r>
            <a:endParaRPr lang="en-US" sz="2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594360" y="3931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96969"/>
                </a:solidFill>
              </a:rPr>
              <a:t>social media posts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331720" y="34930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800</a:t>
            </a:r>
            <a:endParaRPr lang="en-US" sz="2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2331720" y="39319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96969"/>
                </a:solidFill>
              </a:rPr>
              <a:t>influencers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794760" y="34930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2024–2025</a:t>
            </a:r>
            <a:endParaRPr lang="en-US" sz="2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3794760" y="3931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96969"/>
                </a:solidFill>
              </a:rPr>
              <a:t>timestamped posts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016752" y="1207008"/>
            <a:ext cx="2606040" cy="20574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6236208" y="1353312"/>
            <a:ext cx="530352" cy="0"/>
          </a:xfrm>
          <a:prstGeom prst="line">
            <a:avLst/>
          </a:prstGeom>
          <a:noFill/>
          <a:ln w="28575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72784" y="146304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Measures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6272784" y="1792224"/>
            <a:ext cx="235000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IV: persuasive_power_index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Mediator: reach / impressions / log reach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DV: high-effort engagement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Moderator: authority_log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006840" y="1207008"/>
            <a:ext cx="2606040" cy="20574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9098280" y="1353312"/>
            <a:ext cx="530352" cy="0"/>
          </a:xfrm>
          <a:prstGeom prst="line">
            <a:avLst/>
          </a:prstGeom>
          <a:noFill/>
          <a:ln w="28575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134856" y="146304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Methods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9134856" y="1792224"/>
            <a:ext cx="235000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Regression-based mediation + moderation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OLS with clustered SE by influencer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Quadratic reach + high-visibility interaction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58368" y="5340096"/>
            <a:ext cx="10927080" cy="566928"/>
          </a:xfrm>
          <a:prstGeom prst="rect">
            <a:avLst/>
          </a:prstGeom>
          <a:solidFill>
            <a:srgbClr val="FBE7EA"/>
          </a:solidFill>
          <a:ln w="6350">
            <a:solidFill>
              <a:srgbClr val="F0C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68096" y="5413248"/>
            <a:ext cx="1070762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Important limitation: prepared instructional dataset; algorithmic amplification is inferred through visibility proxies, not directly observed platform internals.</a:t>
            </a:r>
            <a:endParaRPr lang="en-US" sz="1050" dirty="0"/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8139BE5A-9C50-3A55-9EEC-0C767A3EFE33}"/>
              </a:ext>
            </a:extLst>
          </p:cNvPr>
          <p:cNvSpPr/>
          <p:nvPr/>
        </p:nvSpPr>
        <p:spPr>
          <a:xfrm>
            <a:off x="502920" y="1197864"/>
            <a:ext cx="868680" cy="73152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46304"/>
            <a:ext cx="1645920" cy="13716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r>
              <a:rPr sz="560" b="1">
                <a:solidFill>
                  <a:srgbClr val="C41230"/>
                </a:solidFill>
                <a:latin typeface="Century Schoolbook"/>
              </a:rPr>
              <a:t>MAIN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11262" y="194012"/>
            <a:ext cx="2651760" cy="13716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 algn="r"/>
            <a:r>
              <a:rPr sz="420" b="0">
                <a:solidFill>
                  <a:srgbClr val="585858"/>
                </a:solidFill>
                <a:latin typeface="Century Schoolbook"/>
              </a:rPr>
              <a:t>CALIFORNIA STATE UNIVERSITY, NORTHRIDGE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320040"/>
            <a:ext cx="11750040" cy="7315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475488" cy="27432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 algn="r"/>
            <a:r>
              <a:rPr sz="640" b="0">
                <a:solidFill>
                  <a:srgbClr val="585858"/>
                </a:solidFill>
                <a:latin typeface="Century Schoolbook"/>
              </a:rPr>
              <a:t>6/8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6858000" cy="36576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r>
              <a:rPr sz="2100" b="1">
                <a:solidFill>
                  <a:srgbClr val="000000"/>
                </a:solidFill>
                <a:latin typeface="Century Schoolbook"/>
              </a:rPr>
              <a:t>Key Findings I: Authority Changes the Pathway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5486400" cy="22860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r>
              <a:rPr sz="900" b="0">
                <a:solidFill>
                  <a:srgbClr val="585858"/>
                </a:solidFill>
                <a:latin typeface="Century Schoolbook"/>
              </a:rPr>
              <a:t>RQ1 — mechanism and authority</a:t>
            </a:r>
          </a:p>
        </p:txBody>
      </p:sp>
      <p:pic>
        <p:nvPicPr>
          <p:cNvPr id="9" name="Picture 8" descr="authority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4343400" cy="4114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532120" y="1143000"/>
            <a:ext cx="52578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41848" y="1307592"/>
            <a:ext cx="548640" cy="32004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0" y="1444752"/>
            <a:ext cx="4983480" cy="27432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r>
              <a:rPr sz="1050" b="1">
                <a:solidFill>
                  <a:srgbClr val="585858"/>
                </a:solidFill>
                <a:latin typeface="Century Schoolbook"/>
              </a:rPr>
              <a:t>Finding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892807"/>
            <a:ext cx="4983480" cy="256031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r>
              <a:rPr sz="940" b="0">
                <a:solidFill>
                  <a:srgbClr val="000000"/>
                </a:solidFill>
                <a:latin typeface="Century Schoolbook"/>
              </a:rPr>
              <a:t>H1 Supported
Early persuasive signals are positively associated with algorithmic amplification.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2468880"/>
            <a:ext cx="52578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41848" y="2633472"/>
            <a:ext cx="548640" cy="32004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0" y="2770632"/>
            <a:ext cx="4983480" cy="27432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r>
              <a:rPr sz="1050" b="1">
                <a:solidFill>
                  <a:srgbClr val="585858"/>
                </a:solidFill>
                <a:latin typeface="Century Schoolbook"/>
              </a:rPr>
              <a:t>Finding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218688"/>
            <a:ext cx="4983480" cy="256031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r>
              <a:rPr sz="930" b="0">
                <a:solidFill>
                  <a:srgbClr val="000000"/>
                </a:solidFill>
                <a:latin typeface="Century Schoolbook"/>
              </a:rPr>
              <a:t>H2 Supported
Early persuasive signals influence high-effort engagement indirectly through amplification.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1" y="3872482"/>
            <a:ext cx="52578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41848" y="3959352"/>
            <a:ext cx="548640" cy="32004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0" y="4096512"/>
            <a:ext cx="4983480" cy="27432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r>
              <a:rPr sz="1050" b="1">
                <a:solidFill>
                  <a:srgbClr val="585858"/>
                </a:solidFill>
                <a:latin typeface="Century Schoolbook"/>
              </a:rPr>
              <a:t>Finding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357116"/>
            <a:ext cx="4754880" cy="44781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890" b="0" dirty="0">
                <a:solidFill>
                  <a:srgbClr val="000000"/>
                </a:solidFill>
                <a:latin typeface="Century Schoolbook"/>
              </a:rPr>
              <a:t>H3 and H4 Supported
Authority strengthens the pathway; the indirect effect is weakest at low authority and strongest at high authority.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715000"/>
            <a:ext cx="10927080" cy="530352"/>
          </a:xfrm>
          <a:prstGeom prst="rect">
            <a:avLst/>
          </a:prstGeom>
          <a:solidFill>
            <a:srgbClr val="FB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5806440"/>
            <a:ext cx="10744200" cy="32918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" y="5852160"/>
            <a:ext cx="10515600" cy="22860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Century Schoolbook"/>
              </a:rPr>
              <a:t>Bottom line: authority is the clearest boundary condition in the pathway from early signals to meaningful action.</a:t>
            </a:r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48418153-D9F8-15DE-DAD6-D6EAC30F45B5}"/>
              </a:ext>
            </a:extLst>
          </p:cNvPr>
          <p:cNvSpPr/>
          <p:nvPr/>
        </p:nvSpPr>
        <p:spPr>
          <a:xfrm>
            <a:off x="495366" y="1106424"/>
            <a:ext cx="1379154" cy="45719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46304"/>
            <a:ext cx="1645920" cy="13716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r>
              <a:rPr sz="560" b="1" dirty="0">
                <a:solidFill>
                  <a:srgbClr val="C41230"/>
                </a:solidFill>
                <a:latin typeface="Century Schoolbook"/>
              </a:rPr>
              <a:t>MAIN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64880" y="201168"/>
            <a:ext cx="2651760" cy="13716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 algn="r"/>
            <a:r>
              <a:rPr sz="420" b="0">
                <a:solidFill>
                  <a:srgbClr val="585858"/>
                </a:solidFill>
                <a:latin typeface="Century Schoolbook"/>
              </a:rPr>
              <a:t>CALIFORNIA STATE UNIVERSITY, NORTHRIDGE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320040"/>
            <a:ext cx="11750040" cy="7315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51253" y="496519"/>
            <a:ext cx="475488" cy="27432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 algn="r"/>
            <a:r>
              <a:rPr sz="640" b="0">
                <a:solidFill>
                  <a:srgbClr val="585858"/>
                </a:solidFill>
                <a:latin typeface="Century Schoolbook"/>
              </a:rPr>
              <a:t>7/8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"/>
            <a:ext cx="6858000" cy="36576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r>
              <a:rPr sz="2100" b="1">
                <a:solidFill>
                  <a:srgbClr val="000000"/>
                </a:solidFill>
                <a:latin typeface="Century Schoolbook"/>
              </a:rPr>
              <a:t>Key Findings II: Visibility Has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5486400" cy="22860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r>
              <a:rPr sz="900" b="0">
                <a:solidFill>
                  <a:srgbClr val="585858"/>
                </a:solidFill>
                <a:latin typeface="Century Schoolbook"/>
              </a:rPr>
              <a:t>RQ2 and RQ3 — diminishing returns and very high visibility</a:t>
            </a:r>
          </a:p>
        </p:txBody>
      </p:sp>
      <p:pic>
        <p:nvPicPr>
          <p:cNvPr id="9" name="Picture 8" descr="reach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4343400" cy="4114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532119" y="1078992"/>
            <a:ext cx="6065519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41848" y="1243584"/>
            <a:ext cx="548640" cy="32004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0" y="1380744"/>
            <a:ext cx="4983480" cy="27432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r>
              <a:rPr sz="1050" b="1">
                <a:solidFill>
                  <a:srgbClr val="585858"/>
                </a:solidFill>
                <a:latin typeface="Century Schoolbook"/>
              </a:rPr>
              <a:t>Finding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828800"/>
            <a:ext cx="4983480" cy="13716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r>
              <a:rPr sz="919" b="0" dirty="0">
                <a:solidFill>
                  <a:srgbClr val="000000"/>
                </a:solidFill>
                <a:latin typeface="Century Schoolbook"/>
              </a:rPr>
              <a:t>H5 Supported
Reach is positively associated with high-effort engagement at lower to moderate visibility levels.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19" y="2267712"/>
            <a:ext cx="6065519" cy="1115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41848" y="2432304"/>
            <a:ext cx="548640" cy="32004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0" y="2569464"/>
            <a:ext cx="4983480" cy="27432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r>
              <a:rPr sz="1050" b="1">
                <a:solidFill>
                  <a:srgbClr val="585858"/>
                </a:solidFill>
                <a:latin typeface="Century Schoolbook"/>
              </a:rPr>
              <a:t>Finding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017520"/>
            <a:ext cx="4983480" cy="292607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r>
              <a:rPr sz="919" b="0">
                <a:solidFill>
                  <a:srgbClr val="000000"/>
                </a:solidFill>
                <a:latin typeface="Century Schoolbook"/>
              </a:rPr>
              <a:t>H6 Supported
Reach shows diminishing marginal returns. Turning point: log reach = 7.90; actual reach ≈ 2,709.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3639312"/>
            <a:ext cx="606552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41848" y="3803904"/>
            <a:ext cx="548640" cy="32004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0" y="3941063"/>
            <a:ext cx="4983480" cy="27432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r>
              <a:rPr sz="1050" b="1">
                <a:solidFill>
                  <a:srgbClr val="585858"/>
                </a:solidFill>
                <a:latin typeface="Century Schoolbook"/>
              </a:rPr>
              <a:t>Finding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389120"/>
            <a:ext cx="4983480" cy="32004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r>
              <a:rPr sz="890" b="0">
                <a:solidFill>
                  <a:srgbClr val="000000"/>
                </a:solidFill>
                <a:latin typeface="Century Schoolbook"/>
              </a:rPr>
              <a:t>H7 and H8 Supported
Persuasive power matters under lower/moderate visibility but becomes less predictive under very high visibility.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715000"/>
            <a:ext cx="10927080" cy="530352"/>
          </a:xfrm>
          <a:prstGeom prst="rect">
            <a:avLst/>
          </a:prstGeom>
          <a:solidFill>
            <a:srgbClr val="FB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5806440"/>
            <a:ext cx="10744200" cy="32918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" y="5852160"/>
            <a:ext cx="10515600" cy="22860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Century Schoolbook"/>
              </a:rPr>
              <a:t>Bottom line: visibility helps, but beyond a point it adds less value and weakens persuasive differentiation.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4630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0" b="1" dirty="0">
                <a:solidFill>
                  <a:srgbClr val="C41230"/>
                </a:solidFill>
              </a:rPr>
              <a:t>MAIN PRESENTATION</a:t>
            </a:r>
          </a:p>
        </p:txBody>
      </p:sp>
      <p:sp>
        <p:nvSpPr>
          <p:cNvPr id="3" name="Text 1"/>
          <p:cNvSpPr/>
          <p:nvPr/>
        </p:nvSpPr>
        <p:spPr>
          <a:xfrm>
            <a:off x="8482148" y="181574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" dirty="0">
                <a:solidFill>
                  <a:srgbClr val="6969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CALIFORNIA STATE UNIVERSITY, NORTHRIDGE</a:t>
            </a:r>
            <a:endParaRPr lang="en-US" sz="520" dirty="0"/>
          </a:p>
        </p:txBody>
      </p:sp>
      <p:sp>
        <p:nvSpPr>
          <p:cNvPr id="4" name="Shape 2"/>
          <p:cNvSpPr/>
          <p:nvPr/>
        </p:nvSpPr>
        <p:spPr>
          <a:xfrm>
            <a:off x="228600" y="320040"/>
            <a:ext cx="11750040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503152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696969"/>
                </a:solidFill>
              </a:rPr>
              <a:t>7/7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502920" y="493776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11111"/>
                </a:solidFill>
              </a:rPr>
              <a:t>Contributions, Limitations, and Takeaways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02920" y="932688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1234440"/>
            <a:ext cx="347472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1380744"/>
            <a:ext cx="530352" cy="0"/>
          </a:xfrm>
          <a:prstGeom prst="line">
            <a:avLst/>
          </a:prstGeom>
          <a:noFill/>
          <a:ln w="28575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2376" y="149047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Academic contribution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722376" y="1819656"/>
            <a:ext cx="32186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Shows algorithmic amplification as a conditional mechanism, not just a descriptive outcome.</a:t>
            </a:r>
          </a:p>
          <a:p>
            <a:pPr marL="0" indent="0">
              <a:buNone/>
            </a:pPr>
            <a:endParaRPr lang="en-US" sz="1050" dirty="0">
              <a:solidFill>
                <a:srgbClr val="111111"/>
              </a:solidFill>
            </a:endParaRPr>
          </a:p>
          <a:p>
            <a:r>
              <a:rPr lang="en-US" sz="1050" dirty="0"/>
              <a:t>Separates signal, amplification, and outcome stages. </a:t>
            </a:r>
          </a:p>
          <a:p>
            <a:endParaRPr lang="en-US" sz="1050" dirty="0"/>
          </a:p>
          <a:p>
            <a:r>
              <a:rPr lang="en-US" sz="1050" dirty="0"/>
              <a:t>Shows authority and saturation as key boundary conditions.</a:t>
            </a:r>
          </a:p>
        </p:txBody>
      </p:sp>
      <p:sp>
        <p:nvSpPr>
          <p:cNvPr id="13" name="Shape 11"/>
          <p:cNvSpPr/>
          <p:nvPr/>
        </p:nvSpPr>
        <p:spPr>
          <a:xfrm>
            <a:off x="4407408" y="1234440"/>
            <a:ext cx="347472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98848" y="1380744"/>
            <a:ext cx="530352" cy="0"/>
          </a:xfrm>
          <a:prstGeom prst="line">
            <a:avLst/>
          </a:prstGeom>
          <a:noFill/>
          <a:ln w="28575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35424" y="149047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Managerial contribution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35424" y="1819656"/>
            <a:ext cx="32186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Measure success with saves, clicks, and profile visits—not reach alone. Prioritize early quality and authority fit.</a:t>
            </a:r>
          </a:p>
          <a:p>
            <a:pPr marL="0" indent="0">
              <a:buNone/>
            </a:pPr>
            <a:endParaRPr lang="en-US" sz="1050" dirty="0">
              <a:solidFill>
                <a:srgbClr val="111111"/>
              </a:solidFill>
            </a:endParaRPr>
          </a:p>
          <a:p>
            <a:r>
              <a:rPr lang="en-US" sz="1050" dirty="0"/>
              <a:t>Helps identify when early momentum converts into action. </a:t>
            </a:r>
          </a:p>
          <a:p>
            <a:endParaRPr lang="en-US" sz="1050" dirty="0"/>
          </a:p>
          <a:p>
            <a:r>
              <a:rPr lang="en-US" sz="1050" dirty="0"/>
              <a:t>Shows that more reach is not always more value.</a:t>
            </a:r>
          </a:p>
        </p:txBody>
      </p:sp>
      <p:sp>
        <p:nvSpPr>
          <p:cNvPr id="17" name="Shape 15"/>
          <p:cNvSpPr/>
          <p:nvPr/>
        </p:nvSpPr>
        <p:spPr>
          <a:xfrm>
            <a:off x="8211312" y="1234440"/>
            <a:ext cx="347472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02752" y="1380744"/>
            <a:ext cx="530352" cy="0"/>
          </a:xfrm>
          <a:prstGeom prst="line">
            <a:avLst/>
          </a:prstGeom>
          <a:noFill/>
          <a:ln w="28575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39328" y="149047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Limitations / next step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8339328" y="1819656"/>
            <a:ext cx="32186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Observational data, proxy amplification measures, and prepared instructional data. Future work should use platform-partnered or experimental data.</a:t>
            </a:r>
          </a:p>
          <a:p>
            <a:pPr marL="0" indent="0">
              <a:buNone/>
            </a:pPr>
            <a:endParaRPr lang="en-US" sz="1050" dirty="0">
              <a:solidFill>
                <a:srgbClr val="111111"/>
              </a:solidFill>
            </a:endParaRPr>
          </a:p>
          <a:p>
            <a:r>
              <a:rPr lang="en-US" sz="1050" dirty="0"/>
              <a:t>Observational design limits causal claims. </a:t>
            </a:r>
          </a:p>
          <a:p>
            <a:endParaRPr lang="en-US" sz="1050" dirty="0"/>
          </a:p>
          <a:p>
            <a:r>
              <a:rPr lang="en-US" sz="1050" dirty="0"/>
              <a:t>Future work should test live multi-platform data.</a:t>
            </a:r>
          </a:p>
        </p:txBody>
      </p:sp>
      <p:sp>
        <p:nvSpPr>
          <p:cNvPr id="21" name="Text 19"/>
          <p:cNvSpPr/>
          <p:nvPr/>
        </p:nvSpPr>
        <p:spPr>
          <a:xfrm>
            <a:off x="713232" y="42245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0000"/>
                </a:solidFill>
              </a:rPr>
              <a:t>Final</a:t>
            </a:r>
            <a:r>
              <a:rPr lang="en-US" sz="8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850" b="1" dirty="0">
                <a:solidFill>
                  <a:srgbClr val="FF0000"/>
                </a:solidFill>
              </a:rPr>
              <a:t>takeaway</a:t>
            </a:r>
          </a:p>
        </p:txBody>
      </p:sp>
      <p:sp>
        <p:nvSpPr>
          <p:cNvPr id="22" name="Text 20"/>
          <p:cNvSpPr/>
          <p:nvPr/>
        </p:nvSpPr>
        <p:spPr>
          <a:xfrm>
            <a:off x="713232" y="4626864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On algorithmic platforms, being widely seen is not the same as driving meaningful action.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13232" y="5285232"/>
            <a:ext cx="1051560" cy="0"/>
          </a:xfrm>
          <a:prstGeom prst="line">
            <a:avLst/>
          </a:prstGeom>
          <a:noFill/>
          <a:ln w="3175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3232" y="55595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" y="1371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B71C1C"/>
                </a:solidFill>
                <a:latin typeface="Arial"/>
              </a:rPr>
              <a:t>MAIN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09728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50">
                <a:solidFill>
                  <a:srgbClr val="646464"/>
                </a:solidFill>
                <a:latin typeface="Arial"/>
              </a:rPr>
              <a:t>CALIFORNIA STATE UNIVERSITY, NORTHRIDGE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221" y="352044"/>
            <a:ext cx="685800" cy="2743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40480" y="1143000"/>
            <a:ext cx="3291840" cy="3840480"/>
          </a:xfrm>
          <a:prstGeom prst="roundRect">
            <a:avLst/>
          </a:prstGeom>
          <a:solidFill>
            <a:srgbClr val="FCFCFC"/>
          </a:solidFill>
          <a:ln w="190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069080" y="1389888"/>
            <a:ext cx="283464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224528" y="1517904"/>
            <a:ext cx="228600" cy="228600"/>
          </a:xfrm>
          <a:prstGeom prst="ellipse">
            <a:avLst/>
          </a:prstGeom>
          <a:solidFill>
            <a:srgbClr val="21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4813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91919"/>
                </a:solidFill>
                <a:latin typeface="Arial"/>
              </a:rPr>
              <a:t>@social_proof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993392"/>
            <a:ext cx="2697480" cy="1005840"/>
          </a:xfrm>
          <a:prstGeom prst="roundRect">
            <a:avLst/>
          </a:prstGeom>
          <a:solidFill>
            <a:srgbClr val="E4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2331720"/>
            <a:ext cx="502920" cy="38404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10912" y="2331720"/>
            <a:ext cx="502920" cy="384048"/>
          </a:xfrm>
          <a:prstGeom prst="rect">
            <a:avLst/>
          </a:prstGeom>
          <a:solidFill>
            <a:srgbClr val="E6A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50992" y="2331720"/>
            <a:ext cx="822960" cy="384048"/>
          </a:xfrm>
          <a:prstGeom prst="rect">
            <a:avLst/>
          </a:prstGeom>
          <a:solidFill>
            <a:srgbClr val="E66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3182112"/>
            <a:ext cx="2331720" cy="5486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1960" y="3401568"/>
            <a:ext cx="2103120" cy="5486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51960" y="3621024"/>
            <a:ext cx="1920240" cy="5486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160520" y="4160520"/>
            <a:ext cx="868680" cy="310896"/>
          </a:xfrm>
          <a:prstGeom prst="roundRect">
            <a:avLst/>
          </a:prstGeom>
          <a:solidFill>
            <a:srgbClr val="F5F5F5"/>
          </a:solidFill>
          <a:ln>
            <a:solidFill>
              <a:srgbClr val="21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87952" y="4215384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13B63"/>
                </a:solidFill>
                <a:latin typeface="Arial"/>
              </a:rPr>
              <a:t>Early signals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93208" y="4160520"/>
            <a:ext cx="868680" cy="310896"/>
          </a:xfrm>
          <a:prstGeom prst="roundRect">
            <a:avLst/>
          </a:prstGeom>
          <a:solidFill>
            <a:srgbClr val="F5F5F5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4215384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A9D8F"/>
                </a:solidFill>
                <a:latin typeface="Arial"/>
              </a:rPr>
              <a:t>Amplification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25896" y="4160520"/>
            <a:ext cx="868680" cy="310896"/>
          </a:xfrm>
          <a:prstGeom prst="roundRect">
            <a:avLst/>
          </a:prstGeom>
          <a:solidFill>
            <a:srgbClr val="F5F5F5"/>
          </a:solidFill>
          <a:ln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53328" y="4215384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B71C1C"/>
                </a:solidFill>
                <a:latin typeface="Arial"/>
              </a:rPr>
              <a:t>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1920240"/>
            <a:ext cx="1828800" cy="91440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3021" y="2130552"/>
            <a:ext cx="173156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213B63"/>
                </a:solidFill>
                <a:latin typeface="Century Schoolbook"/>
              </a:rPr>
              <a:t># </a:t>
            </a:r>
            <a:r>
              <a:rPr lang="en-US" sz="1600" b="1" dirty="0">
                <a:solidFill>
                  <a:srgbClr val="213B63"/>
                </a:solidFill>
                <a:latin typeface="Century Schoolbook"/>
              </a:rPr>
              <a:t>THANK YOU</a:t>
            </a:r>
            <a:endParaRPr sz="1600" b="1" dirty="0">
              <a:solidFill>
                <a:srgbClr val="213B63"/>
              </a:solidFill>
              <a:latin typeface="Century Schoolbook"/>
            </a:endParaRPr>
          </a:p>
        </p:txBody>
      </p:sp>
      <p:sp>
        <p:nvSpPr>
          <p:cNvPr id="26" name="Isosceles Triangle 25"/>
          <p:cNvSpPr/>
          <p:nvPr/>
        </p:nvSpPr>
        <p:spPr>
          <a:xfrm rot="10800000">
            <a:off x="1417320" y="2670048"/>
            <a:ext cx="228600" cy="164592"/>
          </a:xfrm>
          <a:prstGeom prst="triangle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818120" y="1828800"/>
            <a:ext cx="868680" cy="868680"/>
          </a:xfrm>
          <a:prstGeom prst="ellipse">
            <a:avLst/>
          </a:prstGeom>
          <a:solidFill>
            <a:srgbClr val="FFF2F4"/>
          </a:solidFill>
          <a:ln>
            <a:solidFill>
              <a:srgbClr val="F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37575" y="201168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E6607C"/>
                </a:solidFill>
                <a:latin typeface="Arial"/>
              </a:rPr>
              <a:t>♥</a:t>
            </a:r>
          </a:p>
        </p:txBody>
      </p:sp>
      <p:sp>
        <p:nvSpPr>
          <p:cNvPr id="29" name="Oval 28"/>
          <p:cNvSpPr/>
          <p:nvPr/>
        </p:nvSpPr>
        <p:spPr>
          <a:xfrm>
            <a:off x="8366760" y="2743200"/>
            <a:ext cx="749808" cy="749808"/>
          </a:xfrm>
          <a:prstGeom prst="ellipse">
            <a:avLst/>
          </a:prstGeom>
          <a:solidFill>
            <a:srgbClr val="EDF7F5"/>
          </a:solidFill>
          <a:ln>
            <a:solidFill>
              <a:srgbClr val="AB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31352" y="290779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A9D8F"/>
                </a:solidFill>
                <a:latin typeface="Arial"/>
              </a:rPr>
              <a:t>@</a:t>
            </a:r>
          </a:p>
        </p:txBody>
      </p:sp>
      <p:sp>
        <p:nvSpPr>
          <p:cNvPr id="31" name="Oval 30"/>
          <p:cNvSpPr/>
          <p:nvPr/>
        </p:nvSpPr>
        <p:spPr>
          <a:xfrm>
            <a:off x="7635240" y="3657600"/>
            <a:ext cx="658368" cy="658368"/>
          </a:xfrm>
          <a:prstGeom prst="ellipse">
            <a:avLst/>
          </a:prstGeom>
          <a:solidFill>
            <a:srgbClr val="FCF4EA"/>
          </a:solidFill>
          <a:ln>
            <a:solidFill>
              <a:srgbClr val="E8D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99831" y="3785615"/>
            <a:ext cx="2926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6A43C"/>
                </a:solidFill>
                <a:latin typeface="Arial"/>
              </a:rPr>
              <a:t>#</a:t>
            </a:r>
          </a:p>
        </p:txBody>
      </p:sp>
      <p:sp>
        <p:nvSpPr>
          <p:cNvPr id="33" name="Oval 32"/>
          <p:cNvSpPr/>
          <p:nvPr/>
        </p:nvSpPr>
        <p:spPr>
          <a:xfrm>
            <a:off x="3017520" y="2377440"/>
            <a:ext cx="73152" cy="73152"/>
          </a:xfrm>
          <a:prstGeom prst="ellipse">
            <a:avLst/>
          </a:prstGeom>
          <a:solidFill>
            <a:srgbClr val="21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246120" y="2606040"/>
            <a:ext cx="73152" cy="73152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474720" y="2834640"/>
            <a:ext cx="73152" cy="73152"/>
          </a:xfrm>
          <a:prstGeom prst="ellipse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30352" y="5148072"/>
            <a:ext cx="9692640" cy="566928"/>
          </a:xfrm>
          <a:prstGeom prst="rect">
            <a:avLst/>
          </a:prstGeom>
          <a:solidFill>
            <a:srgbClr val="ECECEC"/>
          </a:solidFill>
          <a:ln>
            <a:solidFill>
              <a:srgbClr val="EB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015134" y="5230255"/>
            <a:ext cx="607730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191919"/>
                </a:solidFill>
                <a:latin typeface="Century Schoolbook"/>
              </a:rPr>
              <a:t>From Social Proof to Action — thank you for your time.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5833872"/>
            <a:ext cx="4754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6464"/>
                </a:solidFill>
                <a:latin typeface="Arial"/>
              </a:rPr>
              <a:t>Kiran Kanth Madigani  |  Adhunika Kandala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7432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BACKUP SLIDES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94360" y="323697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9D9D9"/>
                </a:solidFill>
              </a:rPr>
              <a:t>Use only during Q&amp;A. Do not present these during the 5-minute talk unless asked.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640080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D9D9D9"/>
                </a:solidFill>
              </a:rPr>
              <a:t>CSUN  |  BANA 698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4630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b="1" dirty="0">
                <a:solidFill>
                  <a:srgbClr val="C41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</a:t>
            </a:r>
            <a:endParaRPr lang="en-US" sz="560" dirty="0"/>
          </a:p>
        </p:txBody>
      </p:sp>
      <p:sp>
        <p:nvSpPr>
          <p:cNvPr id="3" name="Text 1"/>
          <p:cNvSpPr/>
          <p:nvPr/>
        </p:nvSpPr>
        <p:spPr>
          <a:xfrm>
            <a:off x="9144000" y="146304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" dirty="0">
                <a:solidFill>
                  <a:srgbClr val="6969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CALIFORNIA STATE UNIVERSITY, NORTHRIDGE</a:t>
            </a:r>
            <a:endParaRPr lang="en-US" sz="520" dirty="0"/>
          </a:p>
        </p:txBody>
      </p:sp>
      <p:sp>
        <p:nvSpPr>
          <p:cNvPr id="4" name="Shape 2"/>
          <p:cNvSpPr/>
          <p:nvPr/>
        </p:nvSpPr>
        <p:spPr>
          <a:xfrm>
            <a:off x="228600" y="320040"/>
            <a:ext cx="11750040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676656"/>
            <a:ext cx="475488" cy="0"/>
          </a:xfrm>
          <a:prstGeom prst="line">
            <a:avLst/>
          </a:prstGeom>
          <a:noFill/>
          <a:ln w="3810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503152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696969"/>
                </a:solidFill>
              </a:rPr>
              <a:t>B1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502920" y="493776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11111"/>
                </a:solidFill>
              </a:rPr>
              <a:t>Backup A: Detailed Hypotheses / Research Questions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02920" y="932688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6969"/>
                </a:solidFill>
              </a:rPr>
              <a:t>Keep details here so the main talk stays under 5 minutes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02920" y="5989320"/>
            <a:ext cx="10972800" cy="411480"/>
          </a:xfrm>
          <a:prstGeom prst="rect">
            <a:avLst/>
          </a:prstGeom>
          <a:solidFill>
            <a:srgbClr val="FBE7EA"/>
          </a:solidFill>
          <a:ln w="6350">
            <a:solidFill>
              <a:srgbClr val="F0C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12648" y="6062472"/>
            <a:ext cx="10753344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Q&amp;A use: H2 is not supported as a uniform direct effect, but conditional indirect effects show the pathway is meaningful mainly at high authority.</a:t>
            </a:r>
            <a:endParaRPr lang="en-US" sz="105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9043B97-A331-738D-E1E7-2D2DDDE2DC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881742"/>
              </p:ext>
            </p:extLst>
          </p:nvPr>
        </p:nvGraphicFramePr>
        <p:xfrm>
          <a:off x="0" y="1243584"/>
          <a:ext cx="5010286" cy="346257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426304">
                  <a:extLst>
                    <a:ext uri="{9D8B030D-6E8A-4147-A177-3AD203B41FA5}">
                      <a16:colId xmlns:a16="http://schemas.microsoft.com/office/drawing/2014/main" val="2261774851"/>
                    </a:ext>
                  </a:extLst>
                </a:gridCol>
                <a:gridCol w="3155405">
                  <a:extLst>
                    <a:ext uri="{9D8B030D-6E8A-4147-A177-3AD203B41FA5}">
                      <a16:colId xmlns:a16="http://schemas.microsoft.com/office/drawing/2014/main" val="2768300873"/>
                    </a:ext>
                  </a:extLst>
                </a:gridCol>
                <a:gridCol w="550575">
                  <a:extLst>
                    <a:ext uri="{9D8B030D-6E8A-4147-A177-3AD203B41FA5}">
                      <a16:colId xmlns:a16="http://schemas.microsoft.com/office/drawing/2014/main" val="1142188205"/>
                    </a:ext>
                  </a:extLst>
                </a:gridCol>
                <a:gridCol w="878002">
                  <a:extLst>
                    <a:ext uri="{9D8B030D-6E8A-4147-A177-3AD203B41FA5}">
                      <a16:colId xmlns:a16="http://schemas.microsoft.com/office/drawing/2014/main" val="1338043218"/>
                    </a:ext>
                  </a:extLst>
                </a:gridCol>
              </a:tblGrid>
              <a:tr h="3774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Hypothesis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 dirty="0">
                          <a:effectLst/>
                        </a:rPr>
                        <a:t>Statement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Result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Evidence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655742879"/>
                  </a:ext>
                </a:extLst>
              </a:tr>
              <a:tr h="2262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H1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Early persuasive signals are positively associated with algorithmic amplification.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Supported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coef=0.3551, p=0.0000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325986730"/>
                  </a:ext>
                </a:extLst>
              </a:tr>
              <a:tr h="3773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H2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Algorithmic amplification mediates the relationship between early persuasive signals and high-effort engagement outcomes.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Supported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 dirty="0" err="1">
                          <a:effectLst/>
                        </a:rPr>
                        <a:t>indirect_effect</a:t>
                      </a:r>
                      <a:r>
                        <a:rPr lang="en-US" sz="750" kern="100" dirty="0">
                          <a:effectLst/>
                        </a:rPr>
                        <a:t>=0.0041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438884977"/>
                  </a:ext>
                </a:extLst>
              </a:tr>
              <a:tr h="3773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H3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 dirty="0">
                          <a:effectLst/>
                        </a:rPr>
                        <a:t>Influencer authority positively moderates the relationship between early persuasive signals and algorithmic amplification.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Supported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coef=0.2103, p=0.0000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591285574"/>
                  </a:ext>
                </a:extLst>
              </a:tr>
              <a:tr h="3773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H4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 dirty="0">
                          <a:effectLst/>
                        </a:rPr>
                        <a:t>The indirect effect of early persuasive signals on high-effort engagement through algorithmic amplification is stronger for high-authority influencers.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Supported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low=-0.0105, high=0.0541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132606165"/>
                  </a:ext>
                </a:extLst>
              </a:tr>
              <a:tr h="2262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H5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 dirty="0">
                          <a:effectLst/>
                        </a:rPr>
                        <a:t>Reach is positively associated with high-effort engagement at low-to-moderate levels of visibility.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Supported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coef=0.7436, p=0.0000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248188949"/>
                  </a:ext>
                </a:extLst>
              </a:tr>
              <a:tr h="3773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H6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The positive effect of reach on high-effort engagement exhibits diminishing marginal returns at higher levels of reach. 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Supported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coef=-0.0262, p=0.0048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206768074"/>
                  </a:ext>
                </a:extLst>
              </a:tr>
              <a:tr h="3773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H7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Persuasive power is positively associated with high-effort engagement under low-to-moderate visibility conditions.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Supported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coef=0.0304, p=0.0210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284100436"/>
                  </a:ext>
                </a:extLst>
              </a:tr>
              <a:tr h="3773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H8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Under very high visibility conditions, persuasive power is less predictive of high-effort engagement than under lower visibility conditions.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>
                          <a:effectLst/>
                        </a:rPr>
                        <a:t>Supported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750" kern="100" dirty="0" err="1">
                          <a:effectLst/>
                        </a:rPr>
                        <a:t>coef</a:t>
                      </a:r>
                      <a:r>
                        <a:rPr lang="en-US" sz="750" kern="100" dirty="0">
                          <a:effectLst/>
                        </a:rPr>
                        <a:t>=-0.3397, p=0.0000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12370299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8C8180F-4D5C-FD28-9FCA-ED1CBE91FF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076886"/>
              </p:ext>
            </p:extLst>
          </p:nvPr>
        </p:nvGraphicFramePr>
        <p:xfrm>
          <a:off x="5132779" y="950975"/>
          <a:ext cx="5760720" cy="4278722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152144">
                  <a:extLst>
                    <a:ext uri="{9D8B030D-6E8A-4147-A177-3AD203B41FA5}">
                      <a16:colId xmlns:a16="http://schemas.microsoft.com/office/drawing/2014/main" val="3620826587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981765143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10062001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133101477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727314824"/>
                    </a:ext>
                  </a:extLst>
                </a:gridCol>
              </a:tblGrid>
              <a:tr h="42356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effectLst/>
                        </a:rPr>
                        <a:t>Hypothesis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effectLst/>
                        </a:rPr>
                        <a:t>Predictor / Focal Variable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effectLst/>
                        </a:rPr>
                        <a:t>Outcome Variable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effectLst/>
                        </a:rPr>
                        <a:t>Model Role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effectLst/>
                        </a:rPr>
                        <a:t>Expected Relationship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866297"/>
                  </a:ext>
                </a:extLst>
              </a:tr>
              <a:tr h="29683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>
                          <a:effectLst/>
                        </a:rPr>
                        <a:t>H1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effectLst/>
                        </a:rPr>
                        <a:t>Early persuasive signals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effectLst/>
                        </a:rPr>
                        <a:t>Algorithmic amplification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effectLst/>
                        </a:rPr>
                        <a:t>Direct effect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effectLst/>
                        </a:rPr>
                        <a:t>Positive association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3321541"/>
                  </a:ext>
                </a:extLst>
              </a:tr>
              <a:tr h="39577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>
                          <a:effectLst/>
                        </a:rPr>
                        <a:t>H2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 dirty="0">
                          <a:effectLst/>
                        </a:rPr>
                        <a:t>Early persuasive signals</a:t>
                      </a:r>
                      <a:endParaRPr lang="en-US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 dirty="0">
                          <a:effectLst/>
                        </a:rPr>
                        <a:t>High-effort engagement</a:t>
                      </a:r>
                      <a:endParaRPr lang="en-US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effectLst/>
                        </a:rPr>
                        <a:t>Mediation through algorithmic amplification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 dirty="0">
                          <a:effectLst/>
                        </a:rPr>
                        <a:t>Positive indirect association</a:t>
                      </a:r>
                      <a:endParaRPr lang="en-US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6422515"/>
                  </a:ext>
                </a:extLst>
              </a:tr>
              <a:tr h="59366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>
                          <a:effectLst/>
                        </a:rPr>
                        <a:t>H3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 dirty="0">
                          <a:effectLst/>
                        </a:rPr>
                        <a:t>Early persuasive signals × Influencer authority</a:t>
                      </a:r>
                      <a:endParaRPr lang="en-US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effectLst/>
                        </a:rPr>
                        <a:t>Algorithmic amplification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effectLst/>
                        </a:rPr>
                        <a:t>Moderation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effectLst/>
                        </a:rPr>
                        <a:t>Positive moderation; stronger association at higher authority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8518971"/>
                  </a:ext>
                </a:extLst>
              </a:tr>
              <a:tr h="59366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dirty="0">
                          <a:effectLst/>
                        </a:rPr>
                        <a:t>H4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effectLst/>
                        </a:rPr>
                        <a:t>Early persuasive signals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effectLst/>
                        </a:rPr>
                        <a:t>High-effort engagement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effectLst/>
                        </a:rPr>
                        <a:t>Moderated mediation through amplification, conditioned by authority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effectLst/>
                        </a:rPr>
                        <a:t>Stronger indirect association for high-authority influencers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4889562"/>
                  </a:ext>
                </a:extLst>
              </a:tr>
              <a:tr h="39577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>
                          <a:effectLst/>
                        </a:rPr>
                        <a:t>H5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effectLst/>
                        </a:rPr>
                        <a:t>Reach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effectLst/>
                        </a:rPr>
                        <a:t>High-effort engagement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effectLst/>
                        </a:rPr>
                        <a:t>Direct effect under lower to moderate visibility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effectLst/>
                        </a:rPr>
                        <a:t>Positive association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03282880"/>
                  </a:ext>
                </a:extLst>
              </a:tr>
              <a:tr h="39577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dirty="0">
                          <a:effectLst/>
                        </a:rPr>
                        <a:t>H6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effectLst/>
                        </a:rPr>
                        <a:t>Reach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effectLst/>
                        </a:rPr>
                        <a:t>High-effort engagement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effectLst/>
                        </a:rPr>
                        <a:t>Nonlinear effect / saturation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effectLst/>
                        </a:rPr>
                        <a:t>Positive association weakens at higher reach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940128"/>
                  </a:ext>
                </a:extLst>
              </a:tr>
              <a:tr h="39577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>
                          <a:effectLst/>
                        </a:rPr>
                        <a:t>H7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effectLst/>
                        </a:rPr>
                        <a:t>Persuasive power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effectLst/>
                        </a:rPr>
                        <a:t>High-effort engagement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 dirty="0">
                          <a:effectLst/>
                        </a:rPr>
                        <a:t>Direct effect under low to moderate visibility</a:t>
                      </a:r>
                      <a:endParaRPr lang="en-US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effectLst/>
                        </a:rPr>
                        <a:t>Positive association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29758945"/>
                  </a:ext>
                </a:extLst>
              </a:tr>
              <a:tr h="69260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>
                          <a:effectLst/>
                        </a:rPr>
                        <a:t>H8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>
                          <a:effectLst/>
                        </a:rPr>
                        <a:t>Very high visibility × persuasive power</a:t>
                      </a:r>
                      <a:endParaRPr lang="en-US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 dirty="0">
                          <a:effectLst/>
                        </a:rPr>
                        <a:t>High-effort engagement</a:t>
                      </a:r>
                      <a:endParaRPr lang="en-US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 dirty="0">
                          <a:effectLst/>
                        </a:rPr>
                        <a:t>Boundary condition / interaction effect</a:t>
                      </a:r>
                      <a:endParaRPr lang="en-US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800" dirty="0">
                          <a:effectLst/>
                        </a:rPr>
                        <a:t>Negative interaction; persuasive power is less predictive under very high visibility</a:t>
                      </a:r>
                      <a:endParaRPr lang="en-US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251427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4630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b="1" dirty="0">
                <a:solidFill>
                  <a:srgbClr val="C41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</a:t>
            </a:r>
            <a:endParaRPr lang="en-US" sz="560" dirty="0"/>
          </a:p>
        </p:txBody>
      </p:sp>
      <p:sp>
        <p:nvSpPr>
          <p:cNvPr id="3" name="Text 1"/>
          <p:cNvSpPr/>
          <p:nvPr/>
        </p:nvSpPr>
        <p:spPr>
          <a:xfrm>
            <a:off x="9144000" y="146304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" dirty="0">
                <a:solidFill>
                  <a:srgbClr val="6969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CALIFORNIA STATE UNIVERSITY, NORTHRIDGE</a:t>
            </a:r>
            <a:endParaRPr lang="en-US" sz="520" dirty="0"/>
          </a:p>
        </p:txBody>
      </p:sp>
      <p:sp>
        <p:nvSpPr>
          <p:cNvPr id="4" name="Shape 2"/>
          <p:cNvSpPr/>
          <p:nvPr/>
        </p:nvSpPr>
        <p:spPr>
          <a:xfrm>
            <a:off x="228600" y="320040"/>
            <a:ext cx="11750040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676656"/>
            <a:ext cx="475488" cy="0"/>
          </a:xfrm>
          <a:prstGeom prst="line">
            <a:avLst/>
          </a:prstGeom>
          <a:noFill/>
          <a:ln w="3810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503152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696969"/>
                </a:solidFill>
              </a:rPr>
              <a:t>B2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502920" y="493776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11111"/>
                </a:solidFill>
              </a:rPr>
              <a:t>Backup B: Variable Definitions and Feature Engineering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02920" y="932688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6969"/>
                </a:solidFill>
              </a:rPr>
              <a:t>Define constructed indices, transformations, tiers, and formulas</a:t>
            </a:r>
            <a:endParaRPr lang="en-US" sz="850" dirty="0"/>
          </a:p>
        </p:txBody>
      </p:sp>
      <p:pic>
        <p:nvPicPr>
          <p:cNvPr id="9" name="Image 0" descr="/mnt/data/pres_assets/variables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11064240" cy="35204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5623560"/>
            <a:ext cx="11018520" cy="438912"/>
          </a:xfrm>
          <a:prstGeom prst="rect">
            <a:avLst/>
          </a:prstGeom>
          <a:solidFill>
            <a:srgbClr val="FBE7EA"/>
          </a:solidFill>
          <a:ln w="6350">
            <a:solidFill>
              <a:srgbClr val="F0C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12648" y="5696712"/>
            <a:ext cx="10799064" cy="292608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Measurement caution: amplification is inferred from visibility-related proxies, not directly observed recommendation logic.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4630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b="1" dirty="0">
                <a:solidFill>
                  <a:srgbClr val="C41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</a:t>
            </a:r>
            <a:endParaRPr lang="en-US" sz="560" dirty="0"/>
          </a:p>
        </p:txBody>
      </p:sp>
      <p:sp>
        <p:nvSpPr>
          <p:cNvPr id="3" name="Text 1"/>
          <p:cNvSpPr/>
          <p:nvPr/>
        </p:nvSpPr>
        <p:spPr>
          <a:xfrm>
            <a:off x="9144000" y="146304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" dirty="0">
                <a:solidFill>
                  <a:srgbClr val="6969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CALIFORNIA STATE UNIVERSITY, NORTHRIDGE</a:t>
            </a:r>
            <a:endParaRPr lang="en-US" sz="520" dirty="0"/>
          </a:p>
        </p:txBody>
      </p:sp>
      <p:sp>
        <p:nvSpPr>
          <p:cNvPr id="4" name="Shape 2"/>
          <p:cNvSpPr/>
          <p:nvPr/>
        </p:nvSpPr>
        <p:spPr>
          <a:xfrm>
            <a:off x="228600" y="320040"/>
            <a:ext cx="11750040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676656"/>
            <a:ext cx="475488" cy="0"/>
          </a:xfrm>
          <a:prstGeom prst="line">
            <a:avLst/>
          </a:prstGeom>
          <a:noFill/>
          <a:ln w="3810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503152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696969"/>
                </a:solidFill>
              </a:rPr>
              <a:t>B3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502920" y="493776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11111"/>
                </a:solidFill>
              </a:rPr>
              <a:t>Backup C: Descriptive Statistics and Data Quality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02920" y="932688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6969"/>
                </a:solidFill>
              </a:rPr>
              <a:t>Sample profile, data quality, and filtering decisions</a:t>
            </a:r>
            <a:endParaRPr lang="en-US" sz="850" dirty="0"/>
          </a:p>
        </p:txBody>
      </p:sp>
      <p:pic>
        <p:nvPicPr>
          <p:cNvPr id="9" name="Image 0" descr="/mnt/data/pres_assets/data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25880"/>
            <a:ext cx="5303520" cy="1920240"/>
          </a:xfrm>
          <a:prstGeom prst="rect">
            <a:avLst/>
          </a:prstGeom>
        </p:spPr>
      </p:pic>
      <p:pic>
        <p:nvPicPr>
          <p:cNvPr id="10" name="Image 1" descr="/mnt/data/pres_assets/descriptive_stats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371600"/>
            <a:ext cx="5166360" cy="1691640"/>
          </a:xfrm>
          <a:prstGeom prst="rect">
            <a:avLst/>
          </a:prstGeom>
          <a:effectLst>
            <a:outerShdw blurRad="50800" dist="50800" dir="5400000" algn="ctr" rotWithShape="0">
              <a:schemeClr val="bg1"/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566928" y="3703320"/>
            <a:ext cx="544068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58368" y="3849624"/>
            <a:ext cx="530352" cy="0"/>
          </a:xfrm>
          <a:prstGeom prst="line">
            <a:avLst/>
          </a:prstGeom>
          <a:noFill/>
          <a:ln w="28575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94944" y="3959352"/>
            <a:ext cx="5184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1230"/>
                </a:solidFill>
              </a:rPr>
              <a:t>Data quality decisions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94944" y="4288536"/>
            <a:ext cx="518464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• log transforms for skewed count variables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• casewise exclusion only when focal variables are missing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• clustered standard errors by influencer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55080" y="3703320"/>
            <a:ext cx="521208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446520" y="3849624"/>
            <a:ext cx="530352" cy="0"/>
          </a:xfrm>
          <a:prstGeom prst="line">
            <a:avLst/>
          </a:prstGeom>
          <a:noFill/>
          <a:ln w="28575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483096" y="3959352"/>
            <a:ext cx="4956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1230"/>
                </a:solidFill>
              </a:rPr>
              <a:t>Generalizability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483096" y="4288536"/>
            <a:ext cx="495604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The dataset is prepared for analysis and should be interpreted as analytically informative, not a probability sample of all social media contexts.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4630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b="1" dirty="0">
                <a:solidFill>
                  <a:srgbClr val="C41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</a:t>
            </a:r>
            <a:endParaRPr lang="en-US" sz="560" dirty="0"/>
          </a:p>
        </p:txBody>
      </p:sp>
      <p:sp>
        <p:nvSpPr>
          <p:cNvPr id="3" name="Text 1"/>
          <p:cNvSpPr/>
          <p:nvPr/>
        </p:nvSpPr>
        <p:spPr>
          <a:xfrm>
            <a:off x="9144000" y="146304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" dirty="0">
                <a:solidFill>
                  <a:srgbClr val="6969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CALIFORNIA STATE UNIVERSITY, NORTHRIDGE</a:t>
            </a:r>
            <a:endParaRPr lang="en-US" sz="520" dirty="0"/>
          </a:p>
        </p:txBody>
      </p:sp>
      <p:sp>
        <p:nvSpPr>
          <p:cNvPr id="4" name="Shape 2"/>
          <p:cNvSpPr/>
          <p:nvPr/>
        </p:nvSpPr>
        <p:spPr>
          <a:xfrm>
            <a:off x="228600" y="320040"/>
            <a:ext cx="11750040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676656"/>
            <a:ext cx="475488" cy="0"/>
          </a:xfrm>
          <a:prstGeom prst="line">
            <a:avLst/>
          </a:prstGeom>
          <a:noFill/>
          <a:ln w="3810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503152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696969"/>
                </a:solidFill>
              </a:rPr>
              <a:t>B4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502920" y="493776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11111"/>
                </a:solidFill>
              </a:rPr>
              <a:t>Backup D: Full Model Results / Robustness Checks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02920" y="932688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6969"/>
                </a:solidFill>
              </a:rPr>
              <a:t>Keep detailed results here for committee questions</a:t>
            </a:r>
            <a:endParaRPr lang="en-US" sz="850" dirty="0"/>
          </a:p>
        </p:txBody>
      </p:sp>
      <p:pic>
        <p:nvPicPr>
          <p:cNvPr id="9" name="Image 0" descr="/mnt/data/pres_assets/conditional_indirect_eff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25880"/>
            <a:ext cx="5303520" cy="2788920"/>
          </a:xfrm>
          <a:prstGeom prst="rect">
            <a:avLst/>
          </a:prstGeom>
        </p:spPr>
      </p:pic>
      <p:pic>
        <p:nvPicPr>
          <p:cNvPr id="10" name="Image 1" descr="/mnt/data/pres_assets/diminishing_retur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325880"/>
            <a:ext cx="5303520" cy="2788920"/>
          </a:xfrm>
          <a:prstGeom prst="rect">
            <a:avLst/>
          </a:prstGeom>
        </p:spPr>
      </p:pic>
      <p:pic>
        <p:nvPicPr>
          <p:cNvPr id="11" name="Image 2" descr="/mnt/data/pres_assets/model_key_tab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526280"/>
            <a:ext cx="1088136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4630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b="1" dirty="0">
                <a:solidFill>
                  <a:srgbClr val="C41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</a:t>
            </a:r>
            <a:endParaRPr lang="en-US" sz="560" dirty="0"/>
          </a:p>
        </p:txBody>
      </p:sp>
      <p:sp>
        <p:nvSpPr>
          <p:cNvPr id="3" name="Text 1"/>
          <p:cNvSpPr/>
          <p:nvPr/>
        </p:nvSpPr>
        <p:spPr>
          <a:xfrm>
            <a:off x="9144000" y="146304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" dirty="0">
                <a:solidFill>
                  <a:srgbClr val="6969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CALIFORNIA STATE UNIVERSITY, NORTHRIDGE</a:t>
            </a:r>
            <a:endParaRPr lang="en-US" sz="520" dirty="0"/>
          </a:p>
        </p:txBody>
      </p:sp>
      <p:sp>
        <p:nvSpPr>
          <p:cNvPr id="4" name="Shape 2"/>
          <p:cNvSpPr/>
          <p:nvPr/>
        </p:nvSpPr>
        <p:spPr>
          <a:xfrm>
            <a:off x="228600" y="320040"/>
            <a:ext cx="11750040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676656"/>
            <a:ext cx="475488" cy="0"/>
          </a:xfrm>
          <a:prstGeom prst="line">
            <a:avLst/>
          </a:prstGeom>
          <a:noFill/>
          <a:ln w="3810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503152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696969"/>
                </a:solidFill>
              </a:rPr>
              <a:t>B5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502920" y="493776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11111"/>
                </a:solidFill>
              </a:rPr>
              <a:t>Backup E: Managerial Recommendations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02920" y="932688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6969"/>
                </a:solidFill>
              </a:rPr>
              <a:t>Additional high-visibility visualization and action guidance</a:t>
            </a:r>
            <a:endParaRPr lang="en-US" sz="850" dirty="0"/>
          </a:p>
        </p:txBody>
      </p:sp>
      <p:pic>
        <p:nvPicPr>
          <p:cNvPr id="9" name="Image 0" descr="/mnt/data/pres_assets/high_visibility_eff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25880"/>
            <a:ext cx="5394960" cy="2743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0" y="1325880"/>
            <a:ext cx="5120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92240" y="1472184"/>
            <a:ext cx="530352" cy="0"/>
          </a:xfrm>
          <a:prstGeom prst="line">
            <a:avLst/>
          </a:prstGeom>
          <a:noFill/>
          <a:ln w="28575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28816" y="1581912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Recommendation 1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6528816" y="1911096"/>
            <a:ext cx="4864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Separate reach from effectiveness. Report high-effort outcomes alongside reach and impressions.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310323" y="2400300"/>
            <a:ext cx="5120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6492240" y="2569464"/>
            <a:ext cx="530352" cy="0"/>
          </a:xfrm>
          <a:prstGeom prst="line">
            <a:avLst/>
          </a:prstGeom>
          <a:noFill/>
          <a:ln w="28575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28816" y="2679192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Recommendation 2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6528816" y="3008376"/>
            <a:ext cx="4864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Invest in early content quality and launch timing because early signals are linked to visibility.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00800" y="3520440"/>
            <a:ext cx="5120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492240" y="3666744"/>
            <a:ext cx="530352" cy="0"/>
          </a:xfrm>
          <a:prstGeom prst="line">
            <a:avLst/>
          </a:prstGeom>
          <a:noFill/>
          <a:ln w="28575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528816" y="3776472"/>
            <a:ext cx="4864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Recommendation 3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6528816" y="4105656"/>
            <a:ext cx="4864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Use influencer authority strategically: high-authority creators convert early signals into meaningful outcomes more effectively.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66928" y="5349240"/>
            <a:ext cx="10972800" cy="502920"/>
          </a:xfrm>
          <a:prstGeom prst="rect">
            <a:avLst/>
          </a:prstGeom>
          <a:solidFill>
            <a:srgbClr val="FBE7EA"/>
          </a:solidFill>
          <a:ln w="6350">
            <a:solidFill>
              <a:srgbClr val="F0C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76656" y="5422392"/>
            <a:ext cx="10753344" cy="356616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Do not over-optimize for maximum reach. The model suggests diminishing returns and high-visibility boundary effects.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4630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" b="1" dirty="0">
                <a:solidFill>
                  <a:srgbClr val="C412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</a:t>
            </a:r>
            <a:endParaRPr lang="en-US" sz="560" dirty="0"/>
          </a:p>
        </p:txBody>
      </p:sp>
      <p:sp>
        <p:nvSpPr>
          <p:cNvPr id="3" name="Text 1"/>
          <p:cNvSpPr/>
          <p:nvPr/>
        </p:nvSpPr>
        <p:spPr>
          <a:xfrm>
            <a:off x="9144000" y="146304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" dirty="0">
                <a:solidFill>
                  <a:srgbClr val="6969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CALIFORNIA STATE UNIVERSITY, NORTHRIDGE</a:t>
            </a:r>
            <a:endParaRPr lang="en-US" sz="520" dirty="0"/>
          </a:p>
        </p:txBody>
      </p:sp>
      <p:sp>
        <p:nvSpPr>
          <p:cNvPr id="4" name="Shape 2"/>
          <p:cNvSpPr/>
          <p:nvPr/>
        </p:nvSpPr>
        <p:spPr>
          <a:xfrm>
            <a:off x="228600" y="320040"/>
            <a:ext cx="11750040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493776"/>
            <a:ext cx="475488" cy="0"/>
          </a:xfrm>
          <a:prstGeom prst="line">
            <a:avLst/>
          </a:prstGeom>
          <a:noFill/>
          <a:ln w="3810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503152" y="651967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696969"/>
                </a:solidFill>
              </a:rPr>
              <a:t>B6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502920" y="493776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11111"/>
                </a:solidFill>
              </a:rPr>
              <a:t>Backup F: References and AI-Use Statement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02920" y="932688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6969"/>
                </a:solidFill>
              </a:rPr>
              <a:t>Abbreviated references and disclosure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234440"/>
            <a:ext cx="7315200" cy="2971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1111"/>
                </a:solidFill>
              </a:rPr>
              <a:t>• Chaiken (1980) — Heuristic versus systematic information processing.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11111"/>
                </a:solidFill>
              </a:rPr>
              <a:t>• Bucher (2012) — Algorithmic power and visibility on Facebook.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11111"/>
                </a:solidFill>
              </a:rPr>
              <a:t>• Cotter (2019) — Influencers and algorithmic visibility on Instagram.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11111"/>
                </a:solidFill>
              </a:rPr>
              <a:t>• Petre, Duffy, &amp; Hund (2019) — Politics of algorithmic visibility.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11111"/>
                </a:solidFill>
              </a:rPr>
              <a:t>• De Veirman, Cauberghe, &amp; Hudders (2017) — Followers and influencer effects.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11111"/>
                </a:solidFill>
              </a:rPr>
              <a:t>• Lou &amp; Yuan (2019) — Message value, credibility, and branded content trust.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11111"/>
                </a:solidFill>
              </a:rPr>
              <a:t>• Xiao, Wang, &amp; Chan-Olmsted (2018) — HSM and influencer credibility.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8229600" y="1234440"/>
            <a:ext cx="3154680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321040" y="1380744"/>
            <a:ext cx="530352" cy="0"/>
          </a:xfrm>
          <a:prstGeom prst="line">
            <a:avLst/>
          </a:prstGeom>
          <a:noFill/>
          <a:ln w="28575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57616" y="1490472"/>
            <a:ext cx="2898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AI-use statement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357616" y="1819656"/>
            <a:ext cx="289864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AI tools were used to support drafting, organization, and slide formatting. The analysis and interpretation are based on the provided dataset, code outputs, and project materials.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5440680"/>
            <a:ext cx="10881360" cy="502920"/>
          </a:xfrm>
          <a:prstGeom prst="rect">
            <a:avLst/>
          </a:prstGeom>
          <a:solidFill>
            <a:srgbClr val="FBE7EA"/>
          </a:solidFill>
          <a:ln w="6350">
            <a:solidFill>
              <a:srgbClr val="F0C9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" y="5513832"/>
            <a:ext cx="10661904" cy="35661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Final reminder: claims should be framed as associations because the design is observational and amplification is measured through proxies.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D70D5E"/>
      </a:accent2>
      <a:accent3>
        <a:srgbClr val="98037E"/>
      </a:accent3>
      <a:accent4>
        <a:srgbClr val="68027D"/>
      </a:accent4>
      <a:accent5>
        <a:srgbClr val="095ACA"/>
      </a:accent5>
      <a:accent6>
        <a:srgbClr val="063597"/>
      </a:accent6>
      <a:hlink>
        <a:srgbClr val="17BBFD"/>
      </a:hlink>
      <a:folHlink>
        <a:srgbClr val="FF79C2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23C5FE65-18CC-4A65-9EBC-B05E331504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7553</TotalTime>
  <Words>1702</Words>
  <Application>Microsoft Macintosh PowerPoint</Application>
  <PresentationFormat>Widescreen</PresentationFormat>
  <Paragraphs>302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Century Schoolbook</vt:lpstr>
      <vt:lpstr>Times New Roman</vt:lpstr>
      <vt:lpstr>Wingdings 2</vt:lpstr>
      <vt:lpstr>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California State University, Northridge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Social Proof to Action</dc:title>
  <dc:subject>BANA 698 Final Presentation</dc:subject>
  <dc:creator>Kiran Kanth Madigani and Adhunika Kandala</dc:creator>
  <cp:lastModifiedBy>Madigani, Kiran Kanth</cp:lastModifiedBy>
  <cp:revision>16</cp:revision>
  <dcterms:created xsi:type="dcterms:W3CDTF">2026-05-01T16:45:28Z</dcterms:created>
  <dcterms:modified xsi:type="dcterms:W3CDTF">2026-05-11T17:17:32Z</dcterms:modified>
</cp:coreProperties>
</file>